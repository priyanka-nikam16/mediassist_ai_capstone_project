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1" r:id="rId18"/>
    <p:sldId id="272" r:id="rId19"/>
    <p:sldId id="273" r:id="rId20"/>
    <p:sldId id="274" r:id="rId21"/>
    <p:sldId id="284" r:id="rId22"/>
    <p:sldId id="275" r:id="rId23"/>
    <p:sldId id="276" r:id="rId24"/>
    <p:sldId id="277" r:id="rId25"/>
    <p:sldId id="278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2F6E-1F0C-1519-6B37-107E33C78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71990-B9C6-1872-A5E4-1B4080CCB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09586-B9E5-6351-8009-60353FDD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F8875-6463-872E-803A-9A2CFAAB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44EFA-E600-B039-DC71-20031022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13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E6B7-513C-0E95-731D-673EA683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50977-FE12-EC0C-CBCC-B9E488848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0737A-29C5-AF89-4D6D-AD37772A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20C0B-56C5-9158-362F-C41913DA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34F13-6B35-D164-F34B-29A4FF3F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17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E1B4-FF2A-99FC-06CE-F480AC67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96954-9816-39A5-6EDC-E1129C75D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37D37-A17E-A87A-57F4-7787546D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E0BA6-0653-990B-17AA-93CFB082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8F184-229E-B3A6-3361-BECDB710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17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F38D-E95E-8392-5A40-01859C3A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F7A29-9405-2475-FAE3-D2EB1AEF8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9DF11-62F8-3FC4-D2DF-E353DAE3E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53686-BC27-DEC5-1411-43496DD2D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A9F37-81E7-F086-6E49-9E7C4998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09BCF-08A0-E7D7-9635-AAB55458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86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A50B-018C-255F-C1BA-1443E4C1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FBF93-8320-CDD3-0B5E-BE02E573B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D87AA-D94E-5D1B-C7B0-DA7E63ECA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03810-D140-20CF-9E4F-640AA0ADA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E3656-82AA-3378-4636-1B35311E5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FFABB-6D12-EEEA-2901-D3D90F3F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B4D6D-DCFD-C51F-CF9F-34903F80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4BEB1-9B79-46D4-10C0-F81730A0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4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843A-9A2A-8679-DCFA-270CBC552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E786B-5345-1C3C-3947-B926BDC3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0C1B8-D0B4-6D0D-A5C6-AFFC0507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B7CB1-5EE8-5475-ACF8-299DD6EE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882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7504B-B64A-C157-570B-77C43D844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10CD4-692A-67DD-A627-21546A97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2E9C8-9090-27CB-FA87-B221CCAE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91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C6B7-495E-8599-7703-9C5EF602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9DD9A-41B9-2235-D1D9-6965F0181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ECE17-4184-0ED3-3FEF-91E9EF1F6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5C743-8922-334E-B0F0-479A4295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D3F5D-A3A7-ADC0-CD58-3983BB226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01A5D-D361-E1D6-9E61-529F262F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65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F88D-8974-C67B-B698-55FB3761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14DCD-951D-84FE-0AC7-8FF80A51A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F7F1A-19BB-AE68-4FDA-B411537F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B2B11-9D09-5E6E-445F-0B9BB03AA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1525F-4E6A-8CC1-BEDF-AA38B8AC3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5AA09-C022-C560-968C-825E6E51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544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5D93-ED9C-D797-7972-82FD70F05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F6460-3FEB-3944-C63F-B5E735FB5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6A94E-AA99-EB6C-ACEC-BA818512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94C8E-75B9-D2E2-4F5E-3F2F85A1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41A6C-87FE-070A-632D-340D1FC6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80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DD1563-1117-55D4-0914-CD69ECE58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EF8F9-BDC4-C42E-19D1-690429558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7E926-4E67-B4E4-500F-09F37CF8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2014-E187-2E80-9306-BC9DBB08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86D2C-A932-11C1-65DF-6C9E9B78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8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448BCD-67BE-5769-F91A-0F0E5F53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4E216-3540-A211-76B4-4A348A6D4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D2BD5-1232-3E38-64CB-97EEDDC4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A342C-27D5-4D47-A303-0D13DCE10ED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52082-F9AF-EC30-A415-DA18B0CC3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4FA3-7EB7-7C19-4470-D498EF150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A6053-2089-4D0D-BEA7-D21A873B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092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993F-4453-5839-EC21-F69EA3DE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065"/>
            <a:ext cx="10515600" cy="2168012"/>
          </a:xfrm>
        </p:spPr>
        <p:txBody>
          <a:bodyPr/>
          <a:lstStyle/>
          <a:p>
            <a:r>
              <a:rPr lang="en-IN" b="1" dirty="0" err="1">
                <a:solidFill>
                  <a:srgbClr val="002060"/>
                </a:solidFill>
              </a:rPr>
              <a:t>MediAssist</a:t>
            </a:r>
            <a:r>
              <a:rPr lang="en-IN" b="1" dirty="0">
                <a:solidFill>
                  <a:srgbClr val="002060"/>
                </a:solidFill>
              </a:rPr>
              <a:t> AI</a:t>
            </a:r>
            <a:r>
              <a:rPr lang="en-IN" dirty="0">
                <a:solidFill>
                  <a:srgbClr val="002060"/>
                </a:solidFill>
              </a:rPr>
              <a:t> </a:t>
            </a:r>
            <a:br>
              <a:rPr lang="en-IN" dirty="0"/>
            </a:b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Intelligent Multimodal Healthcare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D115F-E367-EE95-0B5D-8FE4D57FB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8632" y="6223819"/>
            <a:ext cx="2733368" cy="4621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Priyanka Nikam</a:t>
            </a:r>
          </a:p>
        </p:txBody>
      </p:sp>
    </p:spTree>
    <p:extLst>
      <p:ext uri="{BB962C8B-B14F-4D97-AF65-F5344CB8AC3E}">
        <p14:creationId xmlns:p14="http://schemas.microsoft.com/office/powerpoint/2010/main" val="296950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D63F95-8F78-8CE9-5294-C0AA773E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9A9C6-6879-0A7C-3BFF-485482CC5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600" b="0" dirty="0">
              <a:effectLst/>
            </a:endParaRPr>
          </a:p>
          <a:p>
            <a:r>
              <a:rPr lang="en-IN" sz="2600" dirty="0"/>
              <a:t>Project Overview</a:t>
            </a:r>
            <a:endParaRPr lang="en-IN" sz="2600" b="0" dirty="0">
              <a:effectLst/>
            </a:endParaRPr>
          </a:p>
          <a:p>
            <a:r>
              <a:rPr lang="en-IN" sz="2600" dirty="0"/>
              <a:t>Problem Statement</a:t>
            </a:r>
            <a:endParaRPr lang="en-IN" sz="2600" b="0" dirty="0">
              <a:effectLst/>
            </a:endParaRPr>
          </a:p>
          <a:p>
            <a:r>
              <a:rPr lang="en-IN" sz="2600" dirty="0"/>
              <a:t>Business Need</a:t>
            </a:r>
            <a:endParaRPr lang="en-IN" sz="2600" b="0" dirty="0">
              <a:effectLst/>
            </a:endParaRPr>
          </a:p>
          <a:p>
            <a:r>
              <a:rPr lang="en-IN" sz="2600" dirty="0"/>
              <a:t>Assumptions &amp; Prerequisites</a:t>
            </a:r>
            <a:endParaRPr lang="en-IN" sz="2600" b="0" dirty="0">
              <a:effectLst/>
            </a:endParaRPr>
          </a:p>
          <a:p>
            <a:r>
              <a:rPr lang="en-IN" sz="2600" dirty="0"/>
              <a:t>Technology Stack</a:t>
            </a:r>
            <a:endParaRPr lang="en-IN" sz="2600" b="0" dirty="0">
              <a:effectLst/>
            </a:endParaRPr>
          </a:p>
          <a:p>
            <a:r>
              <a:rPr lang="en-IN" sz="2600" dirty="0"/>
              <a:t>Enterprise Architecture</a:t>
            </a:r>
            <a:endParaRPr lang="en-IN" sz="2600" b="0" dirty="0">
              <a:effectLst/>
            </a:endParaRPr>
          </a:p>
          <a:p>
            <a:r>
              <a:rPr lang="en-IN" sz="2600" dirty="0"/>
              <a:t>RAG Pipeline</a:t>
            </a:r>
            <a:endParaRPr lang="en-IN" sz="2600" b="0" dirty="0">
              <a:effectLst/>
            </a:endParaRPr>
          </a:p>
          <a:p>
            <a:r>
              <a:rPr lang="en-IN" sz="2600" dirty="0"/>
              <a:t>Vector DB Comparison &amp; Why FAISS</a:t>
            </a:r>
            <a:endParaRPr lang="en-IN" sz="26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7617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D9001-37AF-0FB7-021E-6345E9144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MCP Architecture</a:t>
            </a:r>
            <a:endParaRPr lang="en-IN" b="0" dirty="0">
              <a:effectLst/>
            </a:endParaRPr>
          </a:p>
          <a:p>
            <a:r>
              <a:rPr lang="en-IN" dirty="0" err="1"/>
              <a:t>LangGraph</a:t>
            </a:r>
            <a:r>
              <a:rPr lang="en-IN" dirty="0"/>
              <a:t> Orchestration</a:t>
            </a:r>
            <a:endParaRPr lang="en-IN" b="0" dirty="0">
              <a:effectLst/>
            </a:endParaRPr>
          </a:p>
          <a:p>
            <a:r>
              <a:rPr lang="en-IN" dirty="0"/>
              <a:t>Docker Deployment</a:t>
            </a:r>
            <a:endParaRPr lang="en-IN" b="0" dirty="0">
              <a:effectLst/>
            </a:endParaRPr>
          </a:p>
          <a:p>
            <a:r>
              <a:rPr lang="en-IN" dirty="0"/>
              <a:t>Evaluation Framework &amp; Metrics</a:t>
            </a:r>
            <a:endParaRPr lang="en-IN" b="0" dirty="0">
              <a:effectLst/>
            </a:endParaRPr>
          </a:p>
          <a:p>
            <a:r>
              <a:rPr lang="en-IN" dirty="0"/>
              <a:t>Sample Outputs</a:t>
            </a:r>
            <a:endParaRPr lang="en-IN" b="0" dirty="0">
              <a:effectLst/>
            </a:endParaRPr>
          </a:p>
          <a:p>
            <a:r>
              <a:rPr lang="en-IN" dirty="0"/>
              <a:t>Challenges &amp; Learnings</a:t>
            </a:r>
            <a:endParaRPr lang="en-IN" b="0" dirty="0">
              <a:effectLst/>
            </a:endParaRPr>
          </a:p>
          <a:p>
            <a:r>
              <a:rPr lang="en-IN" dirty="0"/>
              <a:t>Future Enhancements</a:t>
            </a:r>
            <a:endParaRPr lang="en-IN" b="0" dirty="0">
              <a:effectLst/>
            </a:endParaRPr>
          </a:p>
          <a:p>
            <a:r>
              <a:rPr lang="en-IN" dirty="0"/>
              <a:t>Conclusion &amp; Q&amp;A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56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453F6-E1C6-D518-FE2E-9A7B5A3E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DDB1A-59E3-8E1D-663B-7B905FDB9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32" y="1690688"/>
            <a:ext cx="10429568" cy="4486275"/>
          </a:xfrm>
        </p:spPr>
        <p:txBody>
          <a:bodyPr>
            <a:normAutofit fontScale="92500" lnSpcReduction="20000"/>
          </a:bodyPr>
          <a:lstStyle/>
          <a:p>
            <a:r>
              <a:rPr lang="en-IN" dirty="0" err="1"/>
              <a:t>MediAssist</a:t>
            </a:r>
            <a:r>
              <a:rPr lang="en-IN" dirty="0"/>
              <a:t> AI is a multimodal healthcare assistant designed to: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Process text, images, and structured data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Support doctors, patients, and admin staff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Enable intelligent retrieval, reasoning, and evaluation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59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2048-41F1-87EA-A06A-AC36502A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02E34-B9C5-4070-6B98-50EACB79D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4"/>
            <a:ext cx="10515600" cy="485944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4200" dirty="0"/>
              <a:t>Healthcare systems face challenges in:</a:t>
            </a:r>
            <a:endParaRPr lang="en-IN" sz="4200" b="0" dirty="0">
              <a:effectLst/>
            </a:endParaRPr>
          </a:p>
          <a:p>
            <a:pPr marL="0" indent="0">
              <a:buNone/>
            </a:pPr>
            <a:br>
              <a:rPr lang="en-IN" sz="4200" b="0" dirty="0">
                <a:effectLst/>
              </a:rPr>
            </a:br>
            <a:endParaRPr lang="en-IN" sz="4200" b="0" dirty="0">
              <a:effectLst/>
            </a:endParaRPr>
          </a:p>
          <a:p>
            <a:r>
              <a:rPr lang="en-IN" sz="4200" dirty="0"/>
              <a:t>Managing multimodal data (text, images, structured records)</a:t>
            </a:r>
            <a:endParaRPr lang="en-IN" sz="4200" b="0" dirty="0">
              <a:effectLst/>
            </a:endParaRPr>
          </a:p>
          <a:p>
            <a:pPr marL="0" indent="0">
              <a:buNone/>
            </a:pPr>
            <a:br>
              <a:rPr lang="en-IN" sz="4200" b="0" dirty="0">
                <a:effectLst/>
              </a:rPr>
            </a:br>
            <a:endParaRPr lang="en-IN" sz="4200" b="0" dirty="0">
              <a:effectLst/>
            </a:endParaRPr>
          </a:p>
          <a:p>
            <a:r>
              <a:rPr lang="en-IN" sz="4200" dirty="0"/>
              <a:t>Ensuring accurate retrieval and reasoning</a:t>
            </a:r>
            <a:endParaRPr lang="en-IN" sz="4200" b="0" dirty="0">
              <a:effectLst/>
            </a:endParaRPr>
          </a:p>
          <a:p>
            <a:pPr marL="0" indent="0">
              <a:buNone/>
            </a:pPr>
            <a:br>
              <a:rPr lang="en-IN" sz="4200" b="0" dirty="0">
                <a:effectLst/>
              </a:rPr>
            </a:br>
            <a:endParaRPr lang="en-IN" sz="4200" b="0" dirty="0">
              <a:effectLst/>
            </a:endParaRPr>
          </a:p>
          <a:p>
            <a:r>
              <a:rPr lang="en-IN" sz="4200" dirty="0"/>
              <a:t>Reducing hallucinations in AI outputs</a:t>
            </a:r>
            <a:endParaRPr lang="en-IN" sz="4200" b="0" dirty="0">
              <a:effectLst/>
            </a:endParaRPr>
          </a:p>
          <a:p>
            <a:pPr marL="0" indent="0">
              <a:buNone/>
            </a:pPr>
            <a:br>
              <a:rPr lang="en-IN" sz="4200" b="0" dirty="0">
                <a:effectLst/>
              </a:rPr>
            </a:br>
            <a:endParaRPr lang="en-IN" sz="4200" b="0" dirty="0">
              <a:effectLst/>
            </a:endParaRPr>
          </a:p>
          <a:p>
            <a:r>
              <a:rPr lang="en-IN" sz="4200" dirty="0"/>
              <a:t>Deploying scalable, cost-effective solutions</a:t>
            </a:r>
            <a:endParaRPr lang="en-IN" sz="4200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43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30B8F-3352-D20C-6E94-5F2E457E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Need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A0DFD-339C-DB77-9541-994B34AA3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Intelligent assistant for healthcare workflows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Accurate document retrieval and summarization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OCR for prescriptions and medical reports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Integration with hospital databases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19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489C7-2236-6056-2BE3-3D4393B8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Assumptions &amp; Prerequisites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AF380-6EE6-533D-D1CA-BE793C6F4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Users have access to Docker-based deployment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PostgreSQL available for structured data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FAISS for vector similarity search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 err="1"/>
              <a:t>LangChain</a:t>
            </a:r>
            <a:r>
              <a:rPr lang="en-IN" dirty="0"/>
              <a:t> &amp; </a:t>
            </a:r>
            <a:r>
              <a:rPr lang="en-IN" dirty="0" err="1"/>
              <a:t>LangGraph</a:t>
            </a:r>
            <a:r>
              <a:rPr lang="en-IN" dirty="0"/>
              <a:t> for orchestration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7781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FFC3-6A89-420A-80F4-FD7480B4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21A7-E16F-5A90-A80A-76F297D62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FastAPI</a:t>
            </a:r>
            <a:r>
              <a:rPr lang="en-IN" dirty="0"/>
              <a:t> • </a:t>
            </a:r>
            <a:r>
              <a:rPr lang="en-IN" dirty="0" err="1"/>
              <a:t>Streamlit</a:t>
            </a:r>
            <a:r>
              <a:rPr lang="en-IN" dirty="0"/>
              <a:t> • </a:t>
            </a:r>
            <a:r>
              <a:rPr lang="en-IN" dirty="0" err="1"/>
              <a:t>LangGraph</a:t>
            </a:r>
            <a:r>
              <a:rPr lang="en-IN" dirty="0"/>
              <a:t> • </a:t>
            </a:r>
            <a:r>
              <a:rPr lang="en-IN" dirty="0" err="1"/>
              <a:t>LangChain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 err="1"/>
              <a:t>Groq</a:t>
            </a:r>
            <a:r>
              <a:rPr lang="en-IN" dirty="0"/>
              <a:t> LLM • </a:t>
            </a:r>
            <a:r>
              <a:rPr lang="en-IN" dirty="0" err="1"/>
              <a:t>EasyOCR</a:t>
            </a:r>
            <a:r>
              <a:rPr lang="en-IN" dirty="0"/>
              <a:t> • FAISS • PostgreSQL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Docker • MCP Server • Python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68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F410-A5CD-3AC4-54E7-CC62EED9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83" y="47881"/>
            <a:ext cx="10515600" cy="1325563"/>
          </a:xfrm>
        </p:spPr>
        <p:txBody>
          <a:bodyPr/>
          <a:lstStyle/>
          <a:p>
            <a:r>
              <a:rPr lang="en-IN" sz="3600" dirty="0"/>
              <a:t>Enterprise Architecture: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10A23-51DE-4922-925B-1AFAAB116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4" name="Rounded Rectangle 57">
            <a:extLst>
              <a:ext uri="{FF2B5EF4-FFF2-40B4-BE49-F238E27FC236}">
                <a16:creationId xmlns:a16="http://schemas.microsoft.com/office/drawing/2014/main" id="{C1282885-0D53-AD7A-C73B-EAED3B783642}"/>
              </a:ext>
            </a:extLst>
          </p:cNvPr>
          <p:cNvSpPr/>
          <p:nvPr/>
        </p:nvSpPr>
        <p:spPr>
          <a:xfrm>
            <a:off x="2776968" y="911078"/>
            <a:ext cx="3617531" cy="1092203"/>
          </a:xfrm>
          <a:prstGeom prst="round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775DCF-9DA2-0EEA-9A1E-3DE1EB3CD3F7}"/>
              </a:ext>
            </a:extLst>
          </p:cNvPr>
          <p:cNvGrpSpPr/>
          <p:nvPr/>
        </p:nvGrpSpPr>
        <p:grpSpPr>
          <a:xfrm>
            <a:off x="389209" y="3418089"/>
            <a:ext cx="963280" cy="1243585"/>
            <a:chOff x="523248" y="3428999"/>
            <a:chExt cx="963280" cy="1243585"/>
          </a:xfrm>
        </p:grpSpPr>
        <p:sp>
          <p:nvSpPr>
            <p:cNvPr id="53" name="Rounded Rectangle 31">
              <a:extLst>
                <a:ext uri="{FF2B5EF4-FFF2-40B4-BE49-F238E27FC236}">
                  <a16:creationId xmlns:a16="http://schemas.microsoft.com/office/drawing/2014/main" id="{BA37A8DA-C5C5-1F2E-2411-CAE2EC4D4723}"/>
                </a:ext>
              </a:extLst>
            </p:cNvPr>
            <p:cNvSpPr/>
            <p:nvPr/>
          </p:nvSpPr>
          <p:spPr>
            <a:xfrm>
              <a:off x="523248" y="3428999"/>
              <a:ext cx="963280" cy="1243585"/>
            </a:xfrm>
            <a:prstGeom prst="roundRect">
              <a:avLst/>
            </a:prstGeom>
            <a:solidFill>
              <a:schemeClr val="bg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pic>
          <p:nvPicPr>
            <p:cNvPr id="54" name="Graphic 2" descr="User with solid fill">
              <a:extLst>
                <a:ext uri="{FF2B5EF4-FFF2-40B4-BE49-F238E27FC236}">
                  <a16:creationId xmlns:a16="http://schemas.microsoft.com/office/drawing/2014/main" id="{4A555B7E-3E08-5552-0587-46FB5FF72C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74700" y="3594100"/>
              <a:ext cx="482600" cy="482600"/>
            </a:xfrm>
            <a:prstGeom prst="rect">
              <a:avLst/>
            </a:prstGeom>
          </p:spPr>
        </p:pic>
        <p:sp>
          <p:nvSpPr>
            <p:cNvPr id="55" name="TextBox 3">
              <a:extLst>
                <a:ext uri="{FF2B5EF4-FFF2-40B4-BE49-F238E27FC236}">
                  <a16:creationId xmlns:a16="http://schemas.microsoft.com/office/drawing/2014/main" id="{3E8DD22E-3907-FF6B-54FF-87170C4B75D4}"/>
                </a:ext>
              </a:extLst>
            </p:cNvPr>
            <p:cNvSpPr txBox="1"/>
            <p:nvPr/>
          </p:nvSpPr>
          <p:spPr>
            <a:xfrm>
              <a:off x="534655" y="4021585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Users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Doctors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Admin Staff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Insurance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pic>
        <p:nvPicPr>
          <p:cNvPr id="6" name="Graphic 6" descr="Television with solid fill">
            <a:extLst>
              <a:ext uri="{FF2B5EF4-FFF2-40B4-BE49-F238E27FC236}">
                <a16:creationId xmlns:a16="http://schemas.microsoft.com/office/drawing/2014/main" id="{058C9C47-C280-DAC5-1264-7459B524B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4294" y="3604599"/>
            <a:ext cx="914400" cy="914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DF50FD3A-E38E-51E5-3F5F-4C4D3DE6AA12}"/>
              </a:ext>
            </a:extLst>
          </p:cNvPr>
          <p:cNvSpPr txBox="1"/>
          <p:nvPr/>
        </p:nvSpPr>
        <p:spPr>
          <a:xfrm>
            <a:off x="1523644" y="3814546"/>
            <a:ext cx="1181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highlight>
                  <a:srgbClr val="FFFF00"/>
                </a:highlight>
              </a:rPr>
              <a:t>Streamlit</a:t>
            </a:r>
          </a:p>
          <a:p>
            <a:pPr algn="ctr"/>
            <a:r>
              <a:rPr lang="en-US" sz="1100" dirty="0">
                <a:highlight>
                  <a:srgbClr val="FFFF00"/>
                </a:highlight>
              </a:rPr>
              <a:t>App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EBC7D183-FC7D-E59F-0CD5-F4B3D5BADF39}"/>
              </a:ext>
            </a:extLst>
          </p:cNvPr>
          <p:cNvSpPr/>
          <p:nvPr/>
        </p:nvSpPr>
        <p:spPr>
          <a:xfrm>
            <a:off x="2947822" y="3071139"/>
            <a:ext cx="977900" cy="191770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</a:rPr>
              <a:t>Fast API Gateway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2A7F0D25-E2ED-75AE-1A06-9536611CD2D9}"/>
              </a:ext>
            </a:extLst>
          </p:cNvPr>
          <p:cNvSpPr/>
          <p:nvPr/>
        </p:nvSpPr>
        <p:spPr>
          <a:xfrm>
            <a:off x="4335228" y="3080283"/>
            <a:ext cx="977900" cy="191770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</a:rPr>
              <a:t>LangGraph supervisor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25CB26C1-DDA4-FDC2-7B05-B2E7A3D4AC91}"/>
              </a:ext>
            </a:extLst>
          </p:cNvPr>
          <p:cNvSpPr txBox="1"/>
          <p:nvPr/>
        </p:nvSpPr>
        <p:spPr>
          <a:xfrm>
            <a:off x="3879169" y="4978994"/>
            <a:ext cx="1879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b="0" i="0" dirty="0">
                <a:solidFill>
                  <a:srgbClr val="000000"/>
                </a:solidFill>
                <a:effectLst/>
                <a:latin typeface="Anthropic Sans"/>
              </a:rPr>
              <a:t>Central Orchestration</a:t>
            </a:r>
            <a:endParaRPr lang="en-US" sz="105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BFE47B4-0A44-BA1A-E2A1-1463EBFF17EB}"/>
              </a:ext>
            </a:extLst>
          </p:cNvPr>
          <p:cNvGrpSpPr/>
          <p:nvPr/>
        </p:nvGrpSpPr>
        <p:grpSpPr>
          <a:xfrm>
            <a:off x="5722899" y="2355876"/>
            <a:ext cx="1409700" cy="3135759"/>
            <a:chOff x="6177915" y="2258916"/>
            <a:chExt cx="1409700" cy="3135759"/>
          </a:xfrm>
        </p:grpSpPr>
        <p:sp>
          <p:nvSpPr>
            <p:cNvPr id="48" name="Snip Diagonal Corner of Rectangle 13">
              <a:extLst>
                <a:ext uri="{FF2B5EF4-FFF2-40B4-BE49-F238E27FC236}">
                  <a16:creationId xmlns:a16="http://schemas.microsoft.com/office/drawing/2014/main" id="{DA282878-9F15-227D-15C1-8CC64BA3B0CB}"/>
                </a:ext>
              </a:extLst>
            </p:cNvPr>
            <p:cNvSpPr/>
            <p:nvPr/>
          </p:nvSpPr>
          <p:spPr>
            <a:xfrm>
              <a:off x="6177915" y="2258916"/>
              <a:ext cx="1409700" cy="3135759"/>
            </a:xfrm>
            <a:prstGeom prst="snip2Diag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9" name="Rounded Rectangle 14">
              <a:extLst>
                <a:ext uri="{FF2B5EF4-FFF2-40B4-BE49-F238E27FC236}">
                  <a16:creationId xmlns:a16="http://schemas.microsoft.com/office/drawing/2014/main" id="{EB830114-C9BE-A959-7E24-EC98730A70CA}"/>
                </a:ext>
              </a:extLst>
            </p:cNvPr>
            <p:cNvSpPr/>
            <p:nvPr/>
          </p:nvSpPr>
          <p:spPr>
            <a:xfrm>
              <a:off x="6247130" y="2418895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Planner Agent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Task decomposition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Subtask generation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0" name="Rounded Rectangle 15">
              <a:extLst>
                <a:ext uri="{FF2B5EF4-FFF2-40B4-BE49-F238E27FC236}">
                  <a16:creationId xmlns:a16="http://schemas.microsoft.com/office/drawing/2014/main" id="{D1402E69-0A04-285F-714C-30C22D8EA9E3}"/>
                </a:ext>
              </a:extLst>
            </p:cNvPr>
            <p:cNvSpPr/>
            <p:nvPr/>
          </p:nvSpPr>
          <p:spPr>
            <a:xfrm>
              <a:off x="6247130" y="3092740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Retriever Agent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Vector search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Document ranking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1" name="Rounded Rectangle 16">
              <a:extLst>
                <a:ext uri="{FF2B5EF4-FFF2-40B4-BE49-F238E27FC236}">
                  <a16:creationId xmlns:a16="http://schemas.microsoft.com/office/drawing/2014/main" id="{57886C52-37CC-96DC-9CAB-D58005DB40F3}"/>
                </a:ext>
              </a:extLst>
            </p:cNvPr>
            <p:cNvSpPr/>
            <p:nvPr/>
          </p:nvSpPr>
          <p:spPr>
            <a:xfrm>
              <a:off x="6247130" y="3766585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MCP Agent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Tool execution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DB queries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2" name="Rounded Rectangle 17">
              <a:extLst>
                <a:ext uri="{FF2B5EF4-FFF2-40B4-BE49-F238E27FC236}">
                  <a16:creationId xmlns:a16="http://schemas.microsoft.com/office/drawing/2014/main" id="{A2068B1E-3BE9-1544-0C76-39E35D1B0088}"/>
                </a:ext>
              </a:extLst>
            </p:cNvPr>
            <p:cNvSpPr/>
            <p:nvPr/>
          </p:nvSpPr>
          <p:spPr>
            <a:xfrm>
              <a:off x="6247130" y="4440430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Vision Agent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Image analysis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OCR &amp; extraction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870213B6-2EA2-859F-9179-B4D263A350DB}"/>
              </a:ext>
            </a:extLst>
          </p:cNvPr>
          <p:cNvSpPr/>
          <p:nvPr/>
        </p:nvSpPr>
        <p:spPr>
          <a:xfrm>
            <a:off x="8958428" y="3574653"/>
            <a:ext cx="1271270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>
                <a:solidFill>
                  <a:schemeClr val="tx1"/>
                </a:solidFill>
              </a:rPr>
              <a:t>Reasoning Agent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Context synthesis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Logic &amp; inference</a:t>
            </a:r>
            <a:endParaRPr lang="en-US" sz="100" dirty="0">
              <a:solidFill>
                <a:schemeClr val="tx1"/>
              </a:solidFill>
            </a:endParaRPr>
          </a:p>
        </p:txBody>
      </p:sp>
      <p:sp>
        <p:nvSpPr>
          <p:cNvPr id="13" name="Rounded Rectangle 19">
            <a:extLst>
              <a:ext uri="{FF2B5EF4-FFF2-40B4-BE49-F238E27FC236}">
                <a16:creationId xmlns:a16="http://schemas.microsoft.com/office/drawing/2014/main" id="{BC6ACBA0-5D32-95F0-32DC-756A63F36AB9}"/>
              </a:ext>
            </a:extLst>
          </p:cNvPr>
          <p:cNvSpPr/>
          <p:nvPr/>
        </p:nvSpPr>
        <p:spPr>
          <a:xfrm>
            <a:off x="10531521" y="3583190"/>
            <a:ext cx="1271270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>
                <a:solidFill>
                  <a:schemeClr val="tx1"/>
                </a:solidFill>
              </a:rPr>
              <a:t>Evaluator Agent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Quality checks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Safety validation</a:t>
            </a:r>
            <a:endParaRPr lang="en-US" sz="100" dirty="0">
              <a:solidFill>
                <a:schemeClr val="tx1"/>
              </a:solidFill>
            </a:endParaRPr>
          </a:p>
        </p:txBody>
      </p:sp>
      <p:sp>
        <p:nvSpPr>
          <p:cNvPr id="14" name="Rounded Rectangle 20">
            <a:extLst>
              <a:ext uri="{FF2B5EF4-FFF2-40B4-BE49-F238E27FC236}">
                <a16:creationId xmlns:a16="http://schemas.microsoft.com/office/drawing/2014/main" id="{1FC95348-AF74-2449-E47F-118FAED53F5D}"/>
              </a:ext>
            </a:extLst>
          </p:cNvPr>
          <p:cNvSpPr/>
          <p:nvPr/>
        </p:nvSpPr>
        <p:spPr>
          <a:xfrm>
            <a:off x="10410836" y="5422399"/>
            <a:ext cx="1271270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>
                <a:solidFill>
                  <a:schemeClr val="tx1"/>
                </a:solidFill>
              </a:rPr>
              <a:t>Response Agent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Output guardrails</a:t>
            </a:r>
            <a:endParaRPr lang="en-US" sz="200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0BFEFD-CD74-91A5-7ECE-2696006058D1}"/>
              </a:ext>
            </a:extLst>
          </p:cNvPr>
          <p:cNvGrpSpPr/>
          <p:nvPr/>
        </p:nvGrpSpPr>
        <p:grpSpPr>
          <a:xfrm>
            <a:off x="6569203" y="900314"/>
            <a:ext cx="3483292" cy="1092200"/>
            <a:chOff x="3187700" y="457200"/>
            <a:chExt cx="3483292" cy="1092200"/>
          </a:xfrm>
        </p:grpSpPr>
        <p:sp>
          <p:nvSpPr>
            <p:cNvPr id="45" name="Round Diagonal Corner of Rectangle 22">
              <a:extLst>
                <a:ext uri="{FF2B5EF4-FFF2-40B4-BE49-F238E27FC236}">
                  <a16:creationId xmlns:a16="http://schemas.microsoft.com/office/drawing/2014/main" id="{6D61BD2B-AADB-19FC-8B28-42B8B38B808A}"/>
                </a:ext>
              </a:extLst>
            </p:cNvPr>
            <p:cNvSpPr/>
            <p:nvPr/>
          </p:nvSpPr>
          <p:spPr>
            <a:xfrm>
              <a:off x="3187700" y="457200"/>
              <a:ext cx="3483292" cy="1092200"/>
            </a:xfrm>
            <a:prstGeom prst="round2Diag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6" name="Rounded Rectangle 25">
              <a:extLst>
                <a:ext uri="{FF2B5EF4-FFF2-40B4-BE49-F238E27FC236}">
                  <a16:creationId xmlns:a16="http://schemas.microsoft.com/office/drawing/2014/main" id="{EEE35580-E712-1820-7612-351BD9B1706E}"/>
                </a:ext>
              </a:extLst>
            </p:cNvPr>
            <p:cNvSpPr/>
            <p:nvPr/>
          </p:nvSpPr>
          <p:spPr>
            <a:xfrm>
              <a:off x="3529965" y="735655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Vector Database</a:t>
              </a:r>
            </a:p>
            <a:p>
              <a:pPr algn="ctr"/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FAISS / Chroma DB</a:t>
              </a:r>
            </a:p>
            <a:p>
              <a:pPr algn="ctr"/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Embeddings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Rounded Rectangle 26">
              <a:extLst>
                <a:ext uri="{FF2B5EF4-FFF2-40B4-BE49-F238E27FC236}">
                  <a16:creationId xmlns:a16="http://schemas.microsoft.com/office/drawing/2014/main" id="{FE0ACA26-9D10-828F-7370-104641F15A20}"/>
                </a:ext>
              </a:extLst>
            </p:cNvPr>
            <p:cNvSpPr/>
            <p:nvPr/>
          </p:nvSpPr>
          <p:spPr>
            <a:xfrm>
              <a:off x="4975860" y="735654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PostgreSQL</a:t>
              </a:r>
            </a:p>
            <a:p>
              <a:pPr algn="ctr"/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Patients • Appointments Labs Results • Billing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pic>
        <p:nvPicPr>
          <p:cNvPr id="16" name="Graphic 27" descr="Openai Icon &amp; Logo | Dashboard Icons &amp; Logos">
            <a:extLst>
              <a:ext uri="{FF2B5EF4-FFF2-40B4-BE49-F238E27FC236}">
                <a16:creationId xmlns:a16="http://schemas.microsoft.com/office/drawing/2014/main" id="{DAB6DE67-245A-3649-5187-468EC73A0B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916" y="3574652"/>
            <a:ext cx="535289" cy="535289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7CF54F53-88BE-2293-BA55-E32566032820}"/>
              </a:ext>
            </a:extLst>
          </p:cNvPr>
          <p:cNvSpPr txBox="1"/>
          <p:nvPr/>
        </p:nvSpPr>
        <p:spPr>
          <a:xfrm>
            <a:off x="7541705" y="900311"/>
            <a:ext cx="1631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00" dirty="0"/>
              <a:t>Data Storage &amp; Integration</a:t>
            </a:r>
            <a:endParaRPr lang="en-US" sz="1000" dirty="0"/>
          </a:p>
        </p:txBody>
      </p:sp>
      <p:sp>
        <p:nvSpPr>
          <p:cNvPr id="18" name="Rounded Rectangle 30">
            <a:extLst>
              <a:ext uri="{FF2B5EF4-FFF2-40B4-BE49-F238E27FC236}">
                <a16:creationId xmlns:a16="http://schemas.microsoft.com/office/drawing/2014/main" id="{A721B532-5096-55C0-23BD-E8B07A70CED4}"/>
              </a:ext>
            </a:extLst>
          </p:cNvPr>
          <p:cNvSpPr/>
          <p:nvPr/>
        </p:nvSpPr>
        <p:spPr>
          <a:xfrm>
            <a:off x="8449589" y="2193381"/>
            <a:ext cx="1179044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>
                <a:solidFill>
                  <a:schemeClr val="tx1"/>
                </a:solidFill>
              </a:rPr>
              <a:t>MCP Server</a:t>
            </a:r>
            <a:endParaRPr lang="en-US" sz="200" dirty="0">
              <a:solidFill>
                <a:schemeClr val="tx1"/>
              </a:solidFill>
            </a:endParaRPr>
          </a:p>
        </p:txBody>
      </p:sp>
      <p:cxnSp>
        <p:nvCxnSpPr>
          <p:cNvPr id="19" name="Elbow Connector 33">
            <a:extLst>
              <a:ext uri="{FF2B5EF4-FFF2-40B4-BE49-F238E27FC236}">
                <a16:creationId xmlns:a16="http://schemas.microsoft.com/office/drawing/2014/main" id="{CACD335F-01E4-4596-C936-5700281646F3}"/>
              </a:ext>
            </a:extLst>
          </p:cNvPr>
          <p:cNvCxnSpPr>
            <a:endCxn id="16" idx="0"/>
          </p:cNvCxnSpPr>
          <p:nvPr/>
        </p:nvCxnSpPr>
        <p:spPr>
          <a:xfrm rot="16200000" flipH="1">
            <a:off x="6945668" y="2227758"/>
            <a:ext cx="1860595" cy="833191"/>
          </a:xfrm>
          <a:prstGeom prst="bentConnector3">
            <a:avLst>
              <a:gd name="adj1" fmla="val 68184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EE040B-3584-A439-219A-A701FB8A86A1}"/>
              </a:ext>
            </a:extLst>
          </p:cNvPr>
          <p:cNvCxnSpPr>
            <a:cxnSpLocks/>
          </p:cNvCxnSpPr>
          <p:nvPr/>
        </p:nvCxnSpPr>
        <p:spPr>
          <a:xfrm>
            <a:off x="9011286" y="1720710"/>
            <a:ext cx="0" cy="4822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38">
            <a:extLst>
              <a:ext uri="{FF2B5EF4-FFF2-40B4-BE49-F238E27FC236}">
                <a16:creationId xmlns:a16="http://schemas.microsoft.com/office/drawing/2014/main" id="{0862A827-DB8A-6EFC-2BA6-FF081A00FD24}"/>
              </a:ext>
            </a:extLst>
          </p:cNvPr>
          <p:cNvCxnSpPr>
            <a:stCxn id="18" idx="2"/>
            <a:endCxn id="16" idx="0"/>
          </p:cNvCxnSpPr>
          <p:nvPr/>
        </p:nvCxnSpPr>
        <p:spPr>
          <a:xfrm rot="5400000">
            <a:off x="8242845" y="2778386"/>
            <a:ext cx="845982" cy="746550"/>
          </a:xfrm>
          <a:prstGeom prst="bentConnector3">
            <a:avLst>
              <a:gd name="adj1" fmla="val 305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42">
            <a:extLst>
              <a:ext uri="{FF2B5EF4-FFF2-40B4-BE49-F238E27FC236}">
                <a16:creationId xmlns:a16="http://schemas.microsoft.com/office/drawing/2014/main" id="{4BA48938-57C5-3A95-BF2F-86F501FEE02C}"/>
              </a:ext>
            </a:extLst>
          </p:cNvPr>
          <p:cNvSpPr txBox="1"/>
          <p:nvPr/>
        </p:nvSpPr>
        <p:spPr>
          <a:xfrm>
            <a:off x="7809763" y="4109938"/>
            <a:ext cx="111099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b="0" i="0" dirty="0">
                <a:solidFill>
                  <a:srgbClr val="000000"/>
                </a:solidFill>
                <a:effectLst/>
                <a:latin typeface="Anthropic Sans"/>
              </a:rPr>
              <a:t>LLM Processing</a:t>
            </a:r>
          </a:p>
          <a:p>
            <a:pPr indent="-171450">
              <a:buFont typeface="Arial" panose="020B0604020202020204" pitchFamily="34" charset="0"/>
              <a:buChar char="•"/>
            </a:pPr>
            <a:r>
              <a:rPr lang="en-IN" sz="600" dirty="0">
                <a:solidFill>
                  <a:schemeClr val="accent6">
                    <a:lumMod val="75000"/>
                  </a:schemeClr>
                </a:solidFill>
              </a:rPr>
              <a:t>OpenAI</a:t>
            </a:r>
          </a:p>
          <a:p>
            <a:pPr indent="-171450">
              <a:buFont typeface="Arial" panose="020B0604020202020204" pitchFamily="34" charset="0"/>
              <a:buChar char="•"/>
            </a:pPr>
            <a:r>
              <a:rPr lang="en-IN" sz="600" dirty="0" err="1">
                <a:solidFill>
                  <a:schemeClr val="accent6">
                    <a:lumMod val="75000"/>
                  </a:schemeClr>
                </a:solidFill>
              </a:rPr>
              <a:t>Groq</a:t>
            </a:r>
            <a:r>
              <a:rPr lang="en-IN" sz="600" dirty="0">
                <a:solidFill>
                  <a:schemeClr val="accent6">
                    <a:lumMod val="75000"/>
                  </a:schemeClr>
                </a:solidFill>
              </a:rPr>
              <a:t> </a:t>
            </a:r>
            <a:endParaRPr lang="en-US" sz="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1F9B49-CD23-EA57-ED50-86DE66A51C83}"/>
              </a:ext>
            </a:extLst>
          </p:cNvPr>
          <p:cNvCxnSpPr>
            <a:cxnSpLocks/>
          </p:cNvCxnSpPr>
          <p:nvPr/>
        </p:nvCxnSpPr>
        <p:spPr>
          <a:xfrm flipV="1">
            <a:off x="1344030" y="4039881"/>
            <a:ext cx="33564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AC8686-6DBB-58AD-247E-E4B3F179A5F1}"/>
              </a:ext>
            </a:extLst>
          </p:cNvPr>
          <p:cNvCxnSpPr>
            <a:cxnSpLocks/>
          </p:cNvCxnSpPr>
          <p:nvPr/>
        </p:nvCxnSpPr>
        <p:spPr>
          <a:xfrm flipV="1">
            <a:off x="2528023" y="4039880"/>
            <a:ext cx="406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5C35B2-D3CF-5A22-DA13-AD36C97061B6}"/>
              </a:ext>
            </a:extLst>
          </p:cNvPr>
          <p:cNvCxnSpPr>
            <a:cxnSpLocks/>
          </p:cNvCxnSpPr>
          <p:nvPr/>
        </p:nvCxnSpPr>
        <p:spPr>
          <a:xfrm flipV="1">
            <a:off x="3925722" y="4039879"/>
            <a:ext cx="406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2778D1-52B0-161C-0BAE-2C0D5C94EFBD}"/>
              </a:ext>
            </a:extLst>
          </p:cNvPr>
          <p:cNvCxnSpPr>
            <a:cxnSpLocks/>
          </p:cNvCxnSpPr>
          <p:nvPr/>
        </p:nvCxnSpPr>
        <p:spPr>
          <a:xfrm flipV="1">
            <a:off x="5314727" y="4039132"/>
            <a:ext cx="406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5821C1-BB7F-F170-C899-1677ABA21E8A}"/>
              </a:ext>
            </a:extLst>
          </p:cNvPr>
          <p:cNvCxnSpPr>
            <a:cxnSpLocks/>
          </p:cNvCxnSpPr>
          <p:nvPr/>
        </p:nvCxnSpPr>
        <p:spPr>
          <a:xfrm flipV="1">
            <a:off x="7144782" y="3814546"/>
            <a:ext cx="8705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712593-0DA4-05F7-27F5-0A8B3F5A9216}"/>
              </a:ext>
            </a:extLst>
          </p:cNvPr>
          <p:cNvCxnSpPr>
            <a:cxnSpLocks/>
          </p:cNvCxnSpPr>
          <p:nvPr/>
        </p:nvCxnSpPr>
        <p:spPr>
          <a:xfrm flipV="1">
            <a:off x="8514627" y="3824365"/>
            <a:ext cx="406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686FD4-87C6-4A33-540F-52027C2B5700}"/>
              </a:ext>
            </a:extLst>
          </p:cNvPr>
          <p:cNvCxnSpPr>
            <a:cxnSpLocks/>
          </p:cNvCxnSpPr>
          <p:nvPr/>
        </p:nvCxnSpPr>
        <p:spPr>
          <a:xfrm flipV="1">
            <a:off x="10228043" y="3842296"/>
            <a:ext cx="3051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36940B-01DF-92B5-C0BB-9FB3077C9B06}"/>
              </a:ext>
            </a:extLst>
          </p:cNvPr>
          <p:cNvCxnSpPr>
            <a:stCxn id="13" idx="2"/>
          </p:cNvCxnSpPr>
          <p:nvPr/>
        </p:nvCxnSpPr>
        <p:spPr>
          <a:xfrm>
            <a:off x="11167156" y="4118479"/>
            <a:ext cx="0" cy="1303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56">
            <a:extLst>
              <a:ext uri="{FF2B5EF4-FFF2-40B4-BE49-F238E27FC236}">
                <a16:creationId xmlns:a16="http://schemas.microsoft.com/office/drawing/2014/main" id="{D20D2801-60EC-1721-04B3-63D3C02F193B}"/>
              </a:ext>
            </a:extLst>
          </p:cNvPr>
          <p:cNvCxnSpPr>
            <a:stCxn id="14" idx="1"/>
            <a:endCxn id="53" idx="2"/>
          </p:cNvCxnSpPr>
          <p:nvPr/>
        </p:nvCxnSpPr>
        <p:spPr>
          <a:xfrm rot="10800000">
            <a:off x="870850" y="4661674"/>
            <a:ext cx="9539987" cy="10283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59">
            <a:extLst>
              <a:ext uri="{FF2B5EF4-FFF2-40B4-BE49-F238E27FC236}">
                <a16:creationId xmlns:a16="http://schemas.microsoft.com/office/drawing/2014/main" id="{03348ACB-B686-178A-585C-19267DD12C28}"/>
              </a:ext>
            </a:extLst>
          </p:cNvPr>
          <p:cNvSpPr txBox="1"/>
          <p:nvPr/>
        </p:nvSpPr>
        <p:spPr>
          <a:xfrm>
            <a:off x="3611976" y="900311"/>
            <a:ext cx="1855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00" dirty="0"/>
              <a:t>Ingestion Pipeline</a:t>
            </a:r>
            <a:endParaRPr lang="en-US" sz="1000" dirty="0"/>
          </a:p>
        </p:txBody>
      </p:sp>
      <p:sp>
        <p:nvSpPr>
          <p:cNvPr id="33" name="TextBox 63">
            <a:extLst>
              <a:ext uri="{FF2B5EF4-FFF2-40B4-BE49-F238E27FC236}">
                <a16:creationId xmlns:a16="http://schemas.microsoft.com/office/drawing/2014/main" id="{687507CD-288D-3A08-AE53-7C3EE240EB30}"/>
              </a:ext>
            </a:extLst>
          </p:cNvPr>
          <p:cNvSpPr txBox="1"/>
          <p:nvPr/>
        </p:nvSpPr>
        <p:spPr>
          <a:xfrm>
            <a:off x="2824604" y="1731671"/>
            <a:ext cx="1061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/>
              <a:t>Document Upload</a:t>
            </a:r>
            <a:endParaRPr lang="en-US" sz="800" dirty="0"/>
          </a:p>
        </p:txBody>
      </p:sp>
      <p:sp>
        <p:nvSpPr>
          <p:cNvPr id="34" name="TextBox 65">
            <a:extLst>
              <a:ext uri="{FF2B5EF4-FFF2-40B4-BE49-F238E27FC236}">
                <a16:creationId xmlns:a16="http://schemas.microsoft.com/office/drawing/2014/main" id="{61D7B664-D263-582F-2415-CE3F4D488A0C}"/>
              </a:ext>
            </a:extLst>
          </p:cNvPr>
          <p:cNvSpPr txBox="1"/>
          <p:nvPr/>
        </p:nvSpPr>
        <p:spPr>
          <a:xfrm>
            <a:off x="4137961" y="1731671"/>
            <a:ext cx="7460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/>
              <a:t>Chunking</a:t>
            </a:r>
            <a:endParaRPr lang="en-US" sz="800" dirty="0"/>
          </a:p>
        </p:txBody>
      </p:sp>
      <p:pic>
        <p:nvPicPr>
          <p:cNvPr id="35" name="Graphic 61" descr="Document with solid fill">
            <a:extLst>
              <a:ext uri="{FF2B5EF4-FFF2-40B4-BE49-F238E27FC236}">
                <a16:creationId xmlns:a16="http://schemas.microsoft.com/office/drawing/2014/main" id="{96BF652A-85C7-E120-D6D4-A830B1EF21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7592" y="1342224"/>
            <a:ext cx="375757" cy="375757"/>
          </a:xfrm>
          <a:prstGeom prst="rect">
            <a:avLst/>
          </a:prstGeom>
        </p:spPr>
      </p:pic>
      <p:pic>
        <p:nvPicPr>
          <p:cNvPr id="36" name="Graphic 67" descr="List with solid fill">
            <a:extLst>
              <a:ext uri="{FF2B5EF4-FFF2-40B4-BE49-F238E27FC236}">
                <a16:creationId xmlns:a16="http://schemas.microsoft.com/office/drawing/2014/main" id="{F29B2C8C-D21D-4120-D47C-5161AB134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8341" y="1262637"/>
            <a:ext cx="232211" cy="232211"/>
          </a:xfrm>
          <a:prstGeom prst="rect">
            <a:avLst/>
          </a:prstGeom>
        </p:spPr>
      </p:pic>
      <p:pic>
        <p:nvPicPr>
          <p:cNvPr id="37" name="Graphic 71" descr="List with solid fill">
            <a:extLst>
              <a:ext uri="{FF2B5EF4-FFF2-40B4-BE49-F238E27FC236}">
                <a16:creationId xmlns:a16="http://schemas.microsoft.com/office/drawing/2014/main" id="{81C00C44-C674-2043-2A0F-062686E6F3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3094" y="1508589"/>
            <a:ext cx="232211" cy="232211"/>
          </a:xfrm>
          <a:prstGeom prst="rect">
            <a:avLst/>
          </a:prstGeom>
        </p:spPr>
      </p:pic>
      <p:pic>
        <p:nvPicPr>
          <p:cNvPr id="38" name="Picture 37" descr="Matrix - Free education icons">
            <a:extLst>
              <a:ext uri="{FF2B5EF4-FFF2-40B4-BE49-F238E27FC236}">
                <a16:creationId xmlns:a16="http://schemas.microsoft.com/office/drawing/2014/main" id="{78CE68E0-F7E2-7E7B-EA8C-04E8D0CF1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4632" y="1223989"/>
            <a:ext cx="535815" cy="535815"/>
          </a:xfrm>
          <a:prstGeom prst="rect">
            <a:avLst/>
          </a:prstGeom>
        </p:spPr>
      </p:pic>
      <p:sp>
        <p:nvSpPr>
          <p:cNvPr id="39" name="TextBox 74">
            <a:extLst>
              <a:ext uri="{FF2B5EF4-FFF2-40B4-BE49-F238E27FC236}">
                <a16:creationId xmlns:a16="http://schemas.microsoft.com/office/drawing/2014/main" id="{9B44F76B-05ED-30A4-89FB-2D16E304A58E}"/>
              </a:ext>
            </a:extLst>
          </p:cNvPr>
          <p:cNvSpPr txBox="1"/>
          <p:nvPr/>
        </p:nvSpPr>
        <p:spPr>
          <a:xfrm>
            <a:off x="5401172" y="1731671"/>
            <a:ext cx="7460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/>
              <a:t>Embeddings</a:t>
            </a:r>
            <a:endParaRPr lang="en-US" sz="8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BD02D5F-CA27-B28B-1F8B-4A9BC8CDD67C}"/>
              </a:ext>
            </a:extLst>
          </p:cNvPr>
          <p:cNvCxnSpPr>
            <a:cxnSpLocks/>
          </p:cNvCxnSpPr>
          <p:nvPr/>
        </p:nvCxnSpPr>
        <p:spPr>
          <a:xfrm>
            <a:off x="3611976" y="1491896"/>
            <a:ext cx="716414" cy="2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1A36979-4032-3F96-16D3-672E68C1E7EA}"/>
              </a:ext>
            </a:extLst>
          </p:cNvPr>
          <p:cNvCxnSpPr>
            <a:cxnSpLocks/>
          </p:cNvCxnSpPr>
          <p:nvPr/>
        </p:nvCxnSpPr>
        <p:spPr>
          <a:xfrm>
            <a:off x="4751317" y="1482116"/>
            <a:ext cx="716414" cy="2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A156FC-AAB3-1E86-0BC3-100E034C9080}"/>
              </a:ext>
            </a:extLst>
          </p:cNvPr>
          <p:cNvCxnSpPr>
            <a:cxnSpLocks/>
          </p:cNvCxnSpPr>
          <p:nvPr/>
        </p:nvCxnSpPr>
        <p:spPr>
          <a:xfrm>
            <a:off x="6116675" y="1482116"/>
            <a:ext cx="716414" cy="2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82">
            <a:extLst>
              <a:ext uri="{FF2B5EF4-FFF2-40B4-BE49-F238E27FC236}">
                <a16:creationId xmlns:a16="http://schemas.microsoft.com/office/drawing/2014/main" id="{F6E1B9FC-3833-9BCE-5978-08B718A4627F}"/>
              </a:ext>
            </a:extLst>
          </p:cNvPr>
          <p:cNvSpPr/>
          <p:nvPr/>
        </p:nvSpPr>
        <p:spPr>
          <a:xfrm>
            <a:off x="7687158" y="4861601"/>
            <a:ext cx="1271270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chemeClr val="tx1"/>
                </a:solidFill>
              </a:rPr>
              <a:t>Observability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500" dirty="0" err="1">
                <a:solidFill>
                  <a:schemeClr val="accent6">
                    <a:lumMod val="75000"/>
                  </a:schemeClr>
                </a:solidFill>
              </a:rPr>
              <a:t>Langsmith</a:t>
            </a:r>
            <a:endParaRPr lang="en-IN" sz="105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2BF7CF5-3D47-4E5F-1FDE-EEDF3C5DF57A}"/>
              </a:ext>
            </a:extLst>
          </p:cNvPr>
          <p:cNvCxnSpPr>
            <a:cxnSpLocks/>
          </p:cNvCxnSpPr>
          <p:nvPr/>
        </p:nvCxnSpPr>
        <p:spPr>
          <a:xfrm>
            <a:off x="8365261" y="4405976"/>
            <a:ext cx="0" cy="467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958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FA3A-4B89-E8A0-AEE6-27D35013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Architecture Components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F597B-EB0D-BADB-C7C6-47FB0582B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1966452"/>
            <a:ext cx="10515600" cy="3677264"/>
          </a:xfrm>
        </p:spPr>
        <p:txBody>
          <a:bodyPr>
            <a:noAutofit/>
          </a:bodyPr>
          <a:lstStyle/>
          <a:p>
            <a:r>
              <a:rPr lang="en-IN" sz="2400" dirty="0"/>
              <a:t>Input Guardrails – Input Validation</a:t>
            </a:r>
          </a:p>
          <a:p>
            <a:r>
              <a:rPr lang="en-IN" sz="2400" dirty="0"/>
              <a:t>Planner Agent – task decomposition</a:t>
            </a:r>
          </a:p>
          <a:p>
            <a:r>
              <a:rPr lang="en-IN" sz="2400" dirty="0"/>
              <a:t>Retriever Agent – vector search &amp; ranking</a:t>
            </a:r>
          </a:p>
          <a:p>
            <a:r>
              <a:rPr lang="en-IN" sz="2400" dirty="0"/>
              <a:t>MCP Agent – tool execution &amp; DB queries</a:t>
            </a:r>
          </a:p>
          <a:p>
            <a:r>
              <a:rPr lang="en-IN" sz="2400" dirty="0"/>
              <a:t>Multimodal Agent – OCR &amp; image analysis</a:t>
            </a:r>
            <a:endParaRPr lang="en-IN" sz="2400" b="0" dirty="0">
              <a:effectLst/>
            </a:endParaRPr>
          </a:p>
          <a:p>
            <a:r>
              <a:rPr lang="en-IN" sz="2400" dirty="0"/>
              <a:t>Reasoning Agent – context synthesis</a:t>
            </a:r>
            <a:endParaRPr lang="en-IN" sz="2400" b="0" dirty="0">
              <a:effectLst/>
            </a:endParaRPr>
          </a:p>
          <a:p>
            <a:r>
              <a:rPr lang="en-IN" sz="2400" dirty="0"/>
              <a:t>Evaluator Agent – quality checks</a:t>
            </a:r>
            <a:endParaRPr lang="en-IN" sz="2400" b="0" dirty="0">
              <a:effectLst/>
            </a:endParaRPr>
          </a:p>
          <a:p>
            <a:r>
              <a:rPr lang="en-IN" sz="2400" dirty="0"/>
              <a:t>output guardrails– output Validation</a:t>
            </a:r>
          </a:p>
          <a:p>
            <a:br>
              <a:rPr lang="en-IN" sz="2400" b="0" dirty="0">
                <a:effectLst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13761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DD1C-1ACD-F43E-D934-2E49461D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53ED1-3997-C3EF-1365-E7B7F97FB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2600" dirty="0"/>
          </a:p>
          <a:p>
            <a:pPr marL="0" indent="0">
              <a:buNone/>
            </a:pPr>
            <a:r>
              <a:rPr lang="en-IN" sz="2600" dirty="0"/>
              <a:t>Workflow:  </a:t>
            </a:r>
          </a:p>
          <a:p>
            <a:endParaRPr lang="en-IN" sz="2600" b="0" dirty="0">
              <a:effectLst/>
            </a:endParaRPr>
          </a:p>
          <a:p>
            <a:pPr marL="0" indent="0">
              <a:buNone/>
            </a:pPr>
            <a:r>
              <a:rPr lang="en-IN" sz="2600" dirty="0"/>
              <a:t>Document Loader → Chunking → Embeddings → FAISS → Retrieval → Prompt Builder → </a:t>
            </a:r>
            <a:r>
              <a:rPr lang="en-IN" sz="2600" dirty="0" err="1"/>
              <a:t>Groq</a:t>
            </a:r>
            <a:r>
              <a:rPr lang="en-IN" sz="2600" dirty="0"/>
              <a:t> LLM → Response</a:t>
            </a:r>
            <a:endParaRPr lang="en-IN" sz="2600" b="0" dirty="0">
              <a:effectLst/>
            </a:endParaRP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3758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ECD65-85E1-9355-2DD7-8200C7D4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Why RAG?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C9381-B014-F8EC-C633-60BC837CB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703"/>
            <a:ext cx="10515600" cy="4987260"/>
          </a:xfrm>
        </p:spPr>
        <p:txBody>
          <a:bodyPr>
            <a:noAutofit/>
          </a:bodyPr>
          <a:lstStyle/>
          <a:p>
            <a:endParaRPr lang="en-IN" sz="2600" dirty="0"/>
          </a:p>
          <a:p>
            <a:r>
              <a:rPr lang="en-IN" sz="2600" dirty="0"/>
              <a:t>Enables retrieval-augmented generation</a:t>
            </a:r>
            <a:endParaRPr lang="en-IN" sz="2600" b="0" dirty="0">
              <a:effectLst/>
            </a:endParaRPr>
          </a:p>
          <a:p>
            <a:pPr marL="0" indent="0">
              <a:buNone/>
            </a:pPr>
            <a:endParaRPr lang="en-IN" sz="2600" b="0" dirty="0">
              <a:effectLst/>
            </a:endParaRPr>
          </a:p>
          <a:p>
            <a:r>
              <a:rPr lang="en-IN" sz="2600" dirty="0"/>
              <a:t>Reduces hallucination rate</a:t>
            </a:r>
            <a:endParaRPr lang="en-IN" sz="2600" b="0" dirty="0">
              <a:effectLst/>
            </a:endParaRPr>
          </a:p>
          <a:p>
            <a:pPr marL="0" indent="0">
              <a:buNone/>
            </a:pPr>
            <a:endParaRPr lang="en-IN" sz="2600" b="0" dirty="0">
              <a:effectLst/>
            </a:endParaRPr>
          </a:p>
          <a:p>
            <a:r>
              <a:rPr lang="en-IN" sz="2600" dirty="0"/>
              <a:t>Provides grounded, accurate responses</a:t>
            </a:r>
            <a:endParaRPr lang="en-IN" sz="2600" b="0" dirty="0">
              <a:effectLst/>
            </a:endParaRPr>
          </a:p>
          <a:p>
            <a:pPr marL="0" indent="0">
              <a:buNone/>
            </a:pPr>
            <a:endParaRPr lang="en-IN" sz="2600" b="0" dirty="0">
              <a:effectLst/>
            </a:endParaRPr>
          </a:p>
          <a:p>
            <a:r>
              <a:rPr lang="en-IN" sz="2600" dirty="0"/>
              <a:t>Scales across multimodal inputs</a:t>
            </a:r>
            <a:endParaRPr lang="en-IN" sz="2600" b="0" dirty="0">
              <a:effectLst/>
            </a:endParaRPr>
          </a:p>
          <a:p>
            <a:pPr marL="0" indent="0">
              <a:buNone/>
            </a:pPr>
            <a:br>
              <a:rPr lang="en-IN" sz="2600" dirty="0"/>
            </a:b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951249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58B9-914D-D98B-BE32-73160519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Database Comparison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E0C29-5B6C-EB11-DF0A-505CC945D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2"/>
            <a:ext cx="10515600" cy="5388078"/>
          </a:xfrm>
        </p:spPr>
        <p:txBody>
          <a:bodyPr>
            <a:normAutofit fontScale="47500" lnSpcReduction="20000"/>
          </a:bodyPr>
          <a:lstStyle/>
          <a:p>
            <a:r>
              <a:rPr lang="en-IN" sz="2900" b="1" dirty="0"/>
              <a:t>Feature                                         FAISS                           Chroma                         Pinecone                           </a:t>
            </a:r>
            <a:r>
              <a:rPr lang="en-IN" sz="2900" b="1" dirty="0" err="1"/>
              <a:t>Weaviate</a:t>
            </a:r>
            <a:endParaRPr lang="en-IN" sz="2900" b="1" dirty="0">
              <a:effectLst/>
            </a:endParaRPr>
          </a:p>
          <a:p>
            <a:endParaRPr lang="en-IN" dirty="0"/>
          </a:p>
          <a:p>
            <a:r>
              <a:rPr lang="en-IN" dirty="0"/>
              <a:t>Open Source:                  	        ✅ 		             ✅ 		         ❌ 			✅</a:t>
            </a:r>
            <a:endParaRPr lang="en-IN" b="0" dirty="0">
              <a:effectLst/>
            </a:endParaRPr>
          </a:p>
          <a:p>
            <a:endParaRPr lang="en-IN" dirty="0"/>
          </a:p>
          <a:p>
            <a:r>
              <a:rPr lang="en-IN" dirty="0"/>
              <a:t>Deployment   :                         Local                                        Local/Cloud                            </a:t>
            </a:r>
            <a:r>
              <a:rPr lang="en-IN" dirty="0" err="1"/>
              <a:t>Cloud</a:t>
            </a:r>
            <a:r>
              <a:rPr lang="en-IN" dirty="0"/>
              <a:t>                         Self-hosted/Cloud</a:t>
            </a:r>
            <a:endParaRPr lang="en-IN" b="0" dirty="0">
              <a:effectLst/>
            </a:endParaRPr>
          </a:p>
          <a:p>
            <a:endParaRPr lang="en-IN" dirty="0"/>
          </a:p>
          <a:p>
            <a:r>
              <a:rPr lang="en-IN" dirty="0"/>
              <a:t>Cost :                                           Free                                            </a:t>
            </a:r>
            <a:r>
              <a:rPr lang="en-IN" dirty="0" err="1"/>
              <a:t>Free</a:t>
            </a:r>
            <a:r>
              <a:rPr lang="en-IN" dirty="0"/>
              <a:t>                                            Paid                         Free/Managed</a:t>
            </a:r>
            <a:endParaRPr lang="en-IN" b="0" dirty="0">
              <a:effectLst/>
            </a:endParaRPr>
          </a:p>
          <a:p>
            <a:endParaRPr lang="en-IN" dirty="0"/>
          </a:p>
          <a:p>
            <a:r>
              <a:rPr lang="en-IN" dirty="0"/>
              <a:t>Scalability :                               Medium                                   </a:t>
            </a:r>
            <a:r>
              <a:rPr lang="en-IN" dirty="0" err="1"/>
              <a:t>Medium</a:t>
            </a:r>
            <a:r>
              <a:rPr lang="en-IN" dirty="0"/>
              <a:t>                                         High                                High</a:t>
            </a:r>
            <a:endParaRPr lang="en-IN" b="0" dirty="0">
              <a:effectLst/>
            </a:endParaRPr>
          </a:p>
          <a:p>
            <a:endParaRPr lang="en-IN" dirty="0"/>
          </a:p>
          <a:p>
            <a:r>
              <a:rPr lang="en-IN" dirty="0"/>
              <a:t>Metadata Filtering :               Limited                                          ✅                                              ✅                                                ✅</a:t>
            </a:r>
            <a:endParaRPr lang="en-IN" b="0" dirty="0">
              <a:effectLst/>
            </a:endParaRPr>
          </a:p>
          <a:p>
            <a:endParaRPr lang="en-IN" dirty="0"/>
          </a:p>
          <a:p>
            <a:r>
              <a:rPr lang="en-IN" dirty="0"/>
              <a:t>Hybrid Search:                       ❌                                                   Limited                                     ✅                                                ✅</a:t>
            </a:r>
            <a:endParaRPr lang="en-IN" b="0" dirty="0">
              <a:effectLst/>
            </a:endParaRPr>
          </a:p>
          <a:p>
            <a:endParaRPr lang="en-IN" dirty="0"/>
          </a:p>
          <a:p>
            <a:r>
              <a:rPr lang="en-IN" dirty="0"/>
              <a:t>Best For                                     Offline RAG                                Small Apps                    Enterprise SaaS            Knowledge Graphs</a:t>
            </a:r>
            <a:endParaRPr lang="en-IN" b="0" dirty="0">
              <a:effectLst/>
            </a:endParaRPr>
          </a:p>
          <a:p>
            <a:endParaRPr lang="en-IN" dirty="0"/>
          </a:p>
          <a:p>
            <a:r>
              <a:rPr lang="en-IN" dirty="0" err="1"/>
              <a:t>LangChain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Support:                                       Excellent                                       </a:t>
            </a:r>
            <a:r>
              <a:rPr lang="en-IN" dirty="0" err="1"/>
              <a:t>Excellent</a:t>
            </a:r>
            <a:r>
              <a:rPr lang="en-IN" dirty="0"/>
              <a:t>                                      </a:t>
            </a:r>
            <a:r>
              <a:rPr lang="en-IN" dirty="0" err="1"/>
              <a:t>Excellent</a:t>
            </a:r>
            <a:r>
              <a:rPr lang="en-IN" dirty="0"/>
              <a:t>                           </a:t>
            </a:r>
            <a:r>
              <a:rPr lang="en-IN" dirty="0" err="1"/>
              <a:t>Excellent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7000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371D-01B9-C589-9AC4-C03FCB07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Why FAISS?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CE9D8-A8B0-7021-D748-77CAD4204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000" dirty="0"/>
              <a:t>Free &amp; open source</a:t>
            </a:r>
          </a:p>
          <a:p>
            <a:pPr marL="0" indent="0">
              <a:buNone/>
            </a:pPr>
            <a:endParaRPr lang="en-IN" sz="2000" b="0" dirty="0">
              <a:effectLst/>
            </a:endParaRPr>
          </a:p>
          <a:p>
            <a:r>
              <a:rPr lang="en-IN" sz="2000" dirty="0"/>
              <a:t>Fast in-memory similarity search</a:t>
            </a:r>
          </a:p>
          <a:p>
            <a:pPr marL="0" indent="0">
              <a:buNone/>
            </a:pPr>
            <a:endParaRPr lang="en-IN" sz="2000" b="0" dirty="0">
              <a:effectLst/>
            </a:endParaRPr>
          </a:p>
          <a:p>
            <a:r>
              <a:rPr lang="en-IN" sz="2000" dirty="0"/>
              <a:t>No cloud/API dependency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endParaRPr lang="en-IN" sz="2000" b="0" dirty="0">
              <a:effectLst/>
            </a:endParaRPr>
          </a:p>
          <a:p>
            <a:r>
              <a:rPr lang="en-IN" sz="2000" dirty="0"/>
              <a:t>Lightweight, Docker-friendly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endParaRPr lang="en-IN" sz="2000" b="0" dirty="0">
              <a:effectLst/>
            </a:endParaRPr>
          </a:p>
          <a:p>
            <a:r>
              <a:rPr lang="en-IN" sz="2000" dirty="0"/>
              <a:t>Excellent </a:t>
            </a:r>
            <a:r>
              <a:rPr lang="en-IN" sz="2000" dirty="0" err="1"/>
              <a:t>LangChain</a:t>
            </a:r>
            <a:r>
              <a:rPr lang="en-IN" sz="2000" dirty="0"/>
              <a:t> integration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endParaRPr lang="en-IN" sz="2000" b="0" dirty="0">
              <a:effectLst/>
            </a:endParaRPr>
          </a:p>
          <a:p>
            <a:r>
              <a:rPr lang="en-IN" sz="2000" dirty="0"/>
              <a:t>Perfect for academic &amp; prototype deployments</a:t>
            </a:r>
            <a:br>
              <a:rPr lang="en-IN" sz="2000" b="0" dirty="0">
                <a:effectLst/>
              </a:rPr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59362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F4F5-54BD-0F07-32F6-9D5F1A99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IN" dirty="0"/>
              <a:t>Why Not Others?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15570-6E39-0898-22BE-34D2A273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7"/>
            <a:ext cx="10515600" cy="4928266"/>
          </a:xfrm>
        </p:spPr>
        <p:txBody>
          <a:bodyPr/>
          <a:lstStyle/>
          <a:p>
            <a:r>
              <a:rPr lang="en-IN" dirty="0"/>
              <a:t>Chroma – good persistence, slower on large datasets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Pinecone – paid, cloud-dependent, not ideal for offline healthcare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 err="1"/>
              <a:t>Weaviate</a:t>
            </a:r>
            <a:r>
              <a:rPr lang="en-IN" dirty="0"/>
              <a:t> – powerful, but adds operational complexity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495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1322-6AB2-4136-EB24-ED0C08F9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935"/>
            <a:ext cx="10515600" cy="1100753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MCP Architecture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D65D-8A4A-A80D-0DE6-D58F47FB5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5381"/>
            <a:ext cx="10515600" cy="3561582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Planner → MCP Agent → Tools → PostgreSQL → Reasoning → Answer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pPr marL="0" indent="0">
              <a:buNone/>
            </a:pP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032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FEBC-3E9D-078F-E633-74D8ED64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 err="1"/>
              <a:t>LangGraph</a:t>
            </a:r>
            <a:r>
              <a:rPr lang="en-IN" dirty="0"/>
              <a:t> Orchestration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18DB1-DD75-0453-6981-CF39878C1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Input Guardrail → Planner → Router → Retriever → MCP → Multimodal → Reasoning → Output Guardrail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71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F592-6C1E-FEC1-6387-75AC9BCA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0270"/>
            <a:ext cx="10515600" cy="1120417"/>
          </a:xfrm>
        </p:spPr>
        <p:txBody>
          <a:bodyPr>
            <a:normAutofit fontScale="90000"/>
          </a:bodyPr>
          <a:lstStyle/>
          <a:p>
            <a:r>
              <a:rPr lang="en-IN" dirty="0"/>
              <a:t>Docker Deployment Architecture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C549-E2BD-3E5C-4251-FA701C0C2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30"/>
            <a:ext cx="10515600" cy="4918434"/>
          </a:xfrm>
        </p:spPr>
        <p:txBody>
          <a:bodyPr>
            <a:normAutofit/>
          </a:bodyPr>
          <a:lstStyle/>
          <a:p>
            <a:r>
              <a:rPr lang="en-IN" dirty="0"/>
              <a:t>Backend Docker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Frontend Docker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Docker Network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Volumes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Environment Variables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542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7D75-7E7D-8F97-B8E1-85AEA37AE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Evaluation Framework</a:t>
            </a:r>
            <a:br>
              <a:rPr lang="en-IN" b="0" dirty="0">
                <a:effectLst/>
              </a:rPr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06F07-40D9-73AA-DA15-59A3A4A89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907457"/>
            <a:ext cx="10515600" cy="320762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Golden Dataset → Judge LLM → Metrics → CSV Report</a:t>
            </a: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605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3D9E-DA5C-9433-4AD9-A9B6CC10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2052"/>
            <a:ext cx="10515600" cy="638636"/>
          </a:xfrm>
        </p:spPr>
        <p:txBody>
          <a:bodyPr>
            <a:normAutofit fontScale="90000"/>
          </a:bodyPr>
          <a:lstStyle/>
          <a:p>
            <a:r>
              <a:rPr lang="en-IN" dirty="0"/>
              <a:t>Evaluation Metrics Dashboard</a:t>
            </a:r>
            <a:br>
              <a:rPr lang="en-IN" b="0" dirty="0">
                <a:effectLst/>
              </a:rPr>
            </a:br>
            <a:br>
              <a:rPr lang="en-IN" b="0" dirty="0">
                <a:effectLst/>
              </a:rPr>
            </a:b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2FBA4-B48A-22AA-C4F7-5D078A3B8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508327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Accuracy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Faithfulness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Grounding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Relevance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Completeness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Hallucination Rate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0" dirty="0">
                <a:effectLst/>
              </a:rPr>
              <a:t>Overall Score</a:t>
            </a: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924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B84C7-C3CC-9A39-9E27-A243471F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8F1E6-016E-7084-D131-3D675C028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8903"/>
            <a:ext cx="10515600" cy="376806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Monitor the </a:t>
            </a:r>
            <a:r>
              <a:rPr lang="en-IN" dirty="0" err="1"/>
              <a:t>health,performance</a:t>
            </a:r>
            <a:r>
              <a:rPr lang="en-IN" dirty="0"/>
              <a:t> and quality of the </a:t>
            </a:r>
            <a:r>
              <a:rPr lang="en-IN" dirty="0" err="1"/>
              <a:t>Mediassist</a:t>
            </a:r>
            <a:r>
              <a:rPr lang="en-IN" dirty="0"/>
              <a:t> Ai system.</a:t>
            </a:r>
          </a:p>
          <a:p>
            <a:pPr marL="0" indent="0">
              <a:buNone/>
            </a:pPr>
            <a:r>
              <a:rPr lang="en-IN" dirty="0"/>
              <a:t>1.LLM connectivity Status</a:t>
            </a:r>
          </a:p>
          <a:p>
            <a:pPr marL="0" indent="0">
              <a:buNone/>
            </a:pPr>
            <a:r>
              <a:rPr lang="en-IN" dirty="0"/>
              <a:t>2.FAISS Vector Database Status</a:t>
            </a:r>
          </a:p>
          <a:p>
            <a:pPr marL="0" indent="0">
              <a:buNone/>
            </a:pPr>
            <a:r>
              <a:rPr lang="en-IN" dirty="0"/>
              <a:t>3.PostgreSQL Database Connectivity Status</a:t>
            </a:r>
          </a:p>
          <a:p>
            <a:pPr marL="0" indent="0">
              <a:buNone/>
            </a:pPr>
            <a:r>
              <a:rPr lang="en-IN" dirty="0"/>
              <a:t>4.Token Usage &amp; Cost Tracking</a:t>
            </a:r>
          </a:p>
          <a:p>
            <a:pPr marL="0" indent="0">
              <a:buNone/>
            </a:pPr>
            <a:r>
              <a:rPr lang="en-IN" dirty="0"/>
              <a:t>5.Query evaluation Results.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387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FDF26-3042-5039-AE85-B9D5F01AF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Sample Outputs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EDD5-01E5-BDF1-8030-E65A59FC2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7961"/>
            <a:ext cx="10515600" cy="429900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OCR Prescription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SOP QA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Database Query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Medical Report</a:t>
            </a:r>
          </a:p>
          <a:p>
            <a:endParaRPr lang="en-IN" dirty="0"/>
          </a:p>
          <a:p>
            <a:r>
              <a:rPr lang="en-IN" dirty="0"/>
              <a:t>Citation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974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0497-A3A4-202A-4853-9BD3A044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935"/>
            <a:ext cx="10515600" cy="1100753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Challenges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64530-84E7-46F7-27AA-DE871DF99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465"/>
            <a:ext cx="10515600" cy="4328498"/>
          </a:xfrm>
        </p:spPr>
        <p:txBody>
          <a:bodyPr>
            <a:normAutofit/>
          </a:bodyPr>
          <a:lstStyle/>
          <a:p>
            <a:r>
              <a:rPr lang="en-IN" dirty="0"/>
              <a:t>OCR quality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Docker optimization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 err="1"/>
              <a:t>LangGraph</a:t>
            </a:r>
            <a:r>
              <a:rPr lang="en-IN" dirty="0"/>
              <a:t> routing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FAISS persistence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2115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44BA3-E55E-1D82-1CBF-D8026BFE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1948"/>
            <a:ext cx="10515600" cy="121874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Learnings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9B761-5670-62FE-4E26-DF7E03142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7"/>
            <a:ext cx="10515600" cy="4574305"/>
          </a:xfrm>
        </p:spPr>
        <p:txBody>
          <a:bodyPr>
            <a:normAutofit/>
          </a:bodyPr>
          <a:lstStyle/>
          <a:p>
            <a:r>
              <a:rPr lang="en-IN" dirty="0"/>
              <a:t>Agentic AI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 err="1"/>
              <a:t>LangGraph</a:t>
            </a:r>
            <a:r>
              <a:rPr lang="en-IN" dirty="0"/>
              <a:t> orchestration</a:t>
            </a:r>
            <a:endParaRPr lang="en-IN" b="0" dirty="0">
              <a:effectLst/>
            </a:endParaRPr>
          </a:p>
          <a:p>
            <a:pPr marL="0" indent="0">
              <a:buNone/>
            </a:pPr>
            <a:endParaRPr lang="en-IN" b="0" dirty="0">
              <a:effectLst/>
            </a:endParaRPr>
          </a:p>
          <a:p>
            <a:r>
              <a:rPr lang="en-IN" dirty="0"/>
              <a:t>MCP integration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Docker deployment</a:t>
            </a: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r>
              <a:rPr lang="en-IN" dirty="0"/>
              <a:t>Evaluation framework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892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2AD1E-9161-1002-C32E-7536F8F33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2284"/>
            <a:ext cx="10515600" cy="1149914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Future Enhancements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6D6CA-3DBF-7007-FE16-A1E73DCAA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1317"/>
            <a:ext cx="10515600" cy="4495646"/>
          </a:xfrm>
        </p:spPr>
        <p:txBody>
          <a:bodyPr>
            <a:normAutofit/>
          </a:bodyPr>
          <a:lstStyle/>
          <a:p>
            <a:r>
              <a:rPr lang="en-IN" dirty="0"/>
              <a:t>Hybrid Search(</a:t>
            </a:r>
            <a:r>
              <a:rPr lang="en-IN" dirty="0" err="1"/>
              <a:t>Vector+Keyword</a:t>
            </a:r>
            <a:r>
              <a:rPr lang="en-IN" dirty="0"/>
              <a:t> Search)</a:t>
            </a:r>
          </a:p>
          <a:p>
            <a:r>
              <a:rPr lang="en-IN" dirty="0"/>
              <a:t>Token Usage Analytics(Track </a:t>
            </a:r>
            <a:r>
              <a:rPr lang="en-IN" dirty="0" err="1"/>
              <a:t>prompts,completion</a:t>
            </a:r>
            <a:r>
              <a:rPr lang="en-IN" dirty="0"/>
              <a:t> and total tokens per user session for cost optimization) </a:t>
            </a:r>
          </a:p>
          <a:p>
            <a:r>
              <a:rPr lang="en-IN" dirty="0"/>
              <a:t>Redis Cache</a:t>
            </a:r>
          </a:p>
          <a:p>
            <a:r>
              <a:rPr lang="en-IN" dirty="0"/>
              <a:t>User Authentication  &amp; Role based Access</a:t>
            </a:r>
          </a:p>
          <a:p>
            <a:r>
              <a:rPr lang="en-IN" dirty="0"/>
              <a:t>Azure Deployment</a:t>
            </a:r>
          </a:p>
          <a:p>
            <a:r>
              <a:rPr lang="en-IN" dirty="0"/>
              <a:t>Monitoring</a:t>
            </a:r>
          </a:p>
          <a:p>
            <a:r>
              <a:rPr lang="en-IN" dirty="0"/>
              <a:t>Multi-language support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67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257C-CC82-AB8B-1B1D-EA137A59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65270-1C84-C53C-75B3-E96AAC864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877"/>
            <a:ext cx="10515600" cy="5056086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 err="1"/>
              <a:t>MediAssist</a:t>
            </a:r>
            <a:r>
              <a:rPr lang="en-IN" dirty="0"/>
              <a:t> AI delivers a scalable, multimodal healthcare assistant with strong retrieval, reasoning, and evaluation capabilities.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912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BF87-CA6B-5F1F-7ED4-43EC78E47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2E522-3513-1B26-D193-4C8A43A0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marL="0" indent="0">
              <a:buNone/>
            </a:pPr>
            <a:r>
              <a:rPr lang="en-IN" dirty="0"/>
              <a:t>					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			Thank You.</a:t>
            </a:r>
          </a:p>
        </p:txBody>
      </p:sp>
    </p:spTree>
    <p:extLst>
      <p:ext uri="{BB962C8B-B14F-4D97-AF65-F5344CB8AC3E}">
        <p14:creationId xmlns:p14="http://schemas.microsoft.com/office/powerpoint/2010/main" val="585556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841</Words>
  <Application>Microsoft Office PowerPoint</Application>
  <PresentationFormat>Widescreen</PresentationFormat>
  <Paragraphs>247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Anthropic Sans</vt:lpstr>
      <vt:lpstr>Aptos</vt:lpstr>
      <vt:lpstr>Aptos Display</vt:lpstr>
      <vt:lpstr>Arial</vt:lpstr>
      <vt:lpstr>Office Theme</vt:lpstr>
      <vt:lpstr>MediAssist AI  Intelligent Multimodal Healthcare Assistant</vt:lpstr>
      <vt:lpstr>Agenda</vt:lpstr>
      <vt:lpstr>PowerPoint Presentation</vt:lpstr>
      <vt:lpstr>Project Overview </vt:lpstr>
      <vt:lpstr>Problem Statement </vt:lpstr>
      <vt:lpstr>Business Need </vt:lpstr>
      <vt:lpstr>Assumptions &amp; Prerequisites </vt:lpstr>
      <vt:lpstr>Technology Stack </vt:lpstr>
      <vt:lpstr>Enterprise Architecture: </vt:lpstr>
      <vt:lpstr> Architecture Components </vt:lpstr>
      <vt:lpstr>RAG Pipeline </vt:lpstr>
      <vt:lpstr> Why RAG? </vt:lpstr>
      <vt:lpstr>Vector Database Comparison </vt:lpstr>
      <vt:lpstr> Why FAISS? </vt:lpstr>
      <vt:lpstr>Why Not Others?  </vt:lpstr>
      <vt:lpstr>  MCP Architecture  </vt:lpstr>
      <vt:lpstr> LangGraph Orchestration </vt:lpstr>
      <vt:lpstr>Docker Deployment Architecture  </vt:lpstr>
      <vt:lpstr>  Evaluation Framework   </vt:lpstr>
      <vt:lpstr>Evaluation Metrics Dashboard   </vt:lpstr>
      <vt:lpstr>Monitoring</vt:lpstr>
      <vt:lpstr> Sample Outputs  </vt:lpstr>
      <vt:lpstr> Challenges  </vt:lpstr>
      <vt:lpstr> Learnings  </vt:lpstr>
      <vt:lpstr>  Future Enhancements  </vt:lpstr>
      <vt:lpstr> Conclusion </vt:lpstr>
      <vt:lpstr> 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Nikam</dc:creator>
  <cp:lastModifiedBy>Prashant Nikam</cp:lastModifiedBy>
  <cp:revision>55</cp:revision>
  <dcterms:created xsi:type="dcterms:W3CDTF">2026-07-11T13:32:38Z</dcterms:created>
  <dcterms:modified xsi:type="dcterms:W3CDTF">2026-07-11T16:24:24Z</dcterms:modified>
</cp:coreProperties>
</file>
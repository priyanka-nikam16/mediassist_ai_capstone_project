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56"/>
    <p:restoredTop sz="94660"/>
  </p:normalViewPr>
  <p:slideViewPr>
    <p:cSldViewPr snapToGrid="0">
      <p:cViewPr>
        <p:scale>
          <a:sx n="108" d="100"/>
          <a:sy n="108" d="100"/>
        </p:scale>
        <p:origin x="142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8F422-FA0E-BD11-DAD6-0D0C70E48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915870-4EDC-E0F7-4ADF-ED6692C17D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EB7DB-B4DD-AA2E-2BB0-70D57371D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4EA4-6BE7-8A4F-A373-C34473F9BB1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467F-9618-480C-686D-13C34760E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ADFD8-8116-023D-B904-C70903C3F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A8B3C-4FBC-4D43-8761-1AF37C118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689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CBE31-19E4-F8D8-12E0-C798C705A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022BD-2D35-EA35-A1E5-2316E1EFF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33431-766D-FA1C-FF33-9C6CE65B6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4EA4-6BE7-8A4F-A373-C34473F9BB1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8F0DB-BD42-853B-29C8-9607B61A8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C5177-55C7-F370-B4C7-B1CAC4907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A8B3C-4FBC-4D43-8761-1AF37C118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842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5C7DF-5346-EAAA-3556-52B3AD59B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DBB647-EAF7-27BC-2688-4F6E785FC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24CAD-62A1-5581-208B-F2DB7CF42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4EA4-6BE7-8A4F-A373-C34473F9BB1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4CE0A-3F0A-7F30-4D90-A82275D1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E403F-D119-99F1-AC74-1956EC308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A8B3C-4FBC-4D43-8761-1AF37C118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722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AEFDD-30DB-D472-81F5-4BCFB523A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9C72B-9444-A077-F51A-A0C265F574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E70D0-7DCE-4E7F-EA7F-B193BB399A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E8B6E-B471-6B0D-3A12-45FE60DEB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4EA4-6BE7-8A4F-A373-C34473F9BB1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F4C7D5-C14A-722D-6B6B-07EAA0C05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60C07-BFE3-392A-054F-5BEE7F246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A8B3C-4FBC-4D43-8761-1AF37C118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75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43BD9-DBA1-EDA5-B070-65DC409DB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3ADD0-1F7E-87CE-AE97-235033DB6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18103-8B13-2552-9D60-A369AAFCD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133138-AD01-71ED-770F-EBF654F115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47A072-519E-61F3-5CD6-707AF36784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7DA605-6FB3-6129-7662-5B38CF418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4EA4-6BE7-8A4F-A373-C34473F9BB14}" type="datetimeFigureOut">
              <a:rPr lang="en-US" smtClean="0"/>
              <a:t>6/7/26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0AD7D6-E90D-0A4F-B137-3111E62EC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F633C6-2502-EB07-4D98-3A6D0D6A8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A8B3C-4FBC-4D43-8761-1AF37C118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660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9FEC7-2E3F-60D3-F940-6362B5FCA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B8EEA1-FCCD-2F9C-97AE-3DA05A01E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4EA4-6BE7-8A4F-A373-C34473F9BB14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EF2C0-1AD2-19BC-44D8-E12DA245D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E62A5D-9C04-9476-3228-E25CDC770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A8B3C-4FBC-4D43-8761-1AF37C118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75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0FF334-EEA0-F27D-B5EA-E9E035094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4EA4-6BE7-8A4F-A373-C34473F9BB14}" type="datetimeFigureOut">
              <a:rPr lang="en-US" smtClean="0"/>
              <a:t>6/7/26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281898-B5EA-4C44-E996-D3C3EB7C7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05C40-5062-B00C-F61C-3142B07A4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A8B3C-4FBC-4D43-8761-1AF37C118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014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74A03-2AC9-FCC6-EC12-B5850D4BF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F43F-12AD-5BCA-8D86-CA627E2EA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49075-4AE0-E862-116F-91A74D7D6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12E56-058F-7CC6-3815-436640893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4EA4-6BE7-8A4F-A373-C34473F9BB1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2C4F65-98C2-A910-C57B-53A22C489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6F1A7-BB04-5B7A-01F8-32D47EFA7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A8B3C-4FBC-4D43-8761-1AF37C118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29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E1C08-72AA-AE42-341A-D674856B0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EA12BE-ACFE-1F4D-00F1-407A22BE16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A66A9-9652-0D11-2AF0-C96434A97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7B12DE-BADD-9FE2-41F1-22A3F9609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4EA4-6BE7-8A4F-A373-C34473F9BB1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71111-2B77-7732-57F1-F5F10857C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D93C9-A7E1-FDEA-377E-6453B0652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A8B3C-4FBC-4D43-8761-1AF37C118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87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9A661-4B71-EBE8-86B4-47C098ED8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1E53CD-8D72-1CD6-9975-5B2B2EB934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A01E3-3010-CA22-DF3D-EA81026F0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4EA4-6BE7-8A4F-A373-C34473F9BB1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AD66A-D9FB-3820-EC12-9CE816155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92320-94AF-0A81-19C3-AD09877CD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A8B3C-4FBC-4D43-8761-1AF37C118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62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0F8EFA-BF66-FD91-CFFD-438BCE5117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EAF2D9-B837-DCDC-F95D-50E4D21C58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1D84A-8E96-FD93-BACB-D539E1CFF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4EA4-6BE7-8A4F-A373-C34473F9BB1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44B08-32BF-2E0E-300D-E913688FB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ABDBE-4F09-0E85-E6BB-A318A3876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A8B3C-4FBC-4D43-8761-1AF37C118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304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701FEF-AFCC-6C07-8F48-CAF5D9078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AA86D-20DC-259B-504A-140CB163B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B2E22-68DE-B13E-F697-90C8FE772D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914EA4-6BE7-8A4F-A373-C34473F9BB1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8CFCF-0809-2DBC-2783-7903AD2A6F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9F025-7F3B-978F-2E7F-627A689F85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8A8B3C-4FBC-4D43-8761-1AF37C118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806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B7597-C8AF-8B58-93A6-886A31C802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Enterprise Architecture for </a:t>
            </a:r>
            <a:r>
              <a:rPr lang="en-IN" dirty="0" err="1"/>
              <a:t>MediAssist</a:t>
            </a:r>
            <a:r>
              <a:rPr lang="en-IN" dirty="0"/>
              <a:t> AI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057670-BA35-E9B8-4696-B90B29191C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917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C1282885-0D53-AD7A-C73B-EAED3B783642}"/>
              </a:ext>
            </a:extLst>
          </p:cNvPr>
          <p:cNvSpPr/>
          <p:nvPr/>
        </p:nvSpPr>
        <p:spPr>
          <a:xfrm>
            <a:off x="2897974" y="822722"/>
            <a:ext cx="3617531" cy="1092203"/>
          </a:xfrm>
          <a:prstGeom prst="roundRect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7775DCF-9DA2-0EEA-9A1E-3DE1EB3CD3F7}"/>
              </a:ext>
            </a:extLst>
          </p:cNvPr>
          <p:cNvGrpSpPr/>
          <p:nvPr/>
        </p:nvGrpSpPr>
        <p:grpSpPr>
          <a:xfrm>
            <a:off x="510215" y="3329733"/>
            <a:ext cx="963280" cy="1243585"/>
            <a:chOff x="523248" y="3428999"/>
            <a:chExt cx="963280" cy="1243585"/>
          </a:xfrm>
        </p:grpSpPr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BA37A8DA-C5C5-1F2E-2411-CAE2EC4D4723}"/>
                </a:ext>
              </a:extLst>
            </p:cNvPr>
            <p:cNvSpPr/>
            <p:nvPr/>
          </p:nvSpPr>
          <p:spPr>
            <a:xfrm>
              <a:off x="523248" y="3428999"/>
              <a:ext cx="963280" cy="1243585"/>
            </a:xfrm>
            <a:prstGeom prst="roundRect">
              <a:avLst/>
            </a:prstGeom>
            <a:solidFill>
              <a:schemeClr val="bg2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pic>
          <p:nvPicPr>
            <p:cNvPr id="3" name="Graphic 2" descr="User with solid fill">
              <a:extLst>
                <a:ext uri="{FF2B5EF4-FFF2-40B4-BE49-F238E27FC236}">
                  <a16:creationId xmlns:a16="http://schemas.microsoft.com/office/drawing/2014/main" id="{4A555B7E-3E08-5552-0587-46FB5FF72C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74700" y="3594100"/>
              <a:ext cx="482600" cy="4826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E8DD22E-3907-FF6B-54FF-87170C4B75D4}"/>
                </a:ext>
              </a:extLst>
            </p:cNvPr>
            <p:cNvSpPr txBox="1"/>
            <p:nvPr/>
          </p:nvSpPr>
          <p:spPr>
            <a:xfrm>
              <a:off x="534655" y="4021585"/>
              <a:ext cx="914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Users</a:t>
              </a:r>
            </a:p>
            <a:p>
              <a:pPr indent="-171450">
                <a:buFont typeface="Arial" panose="020B0604020202020204" pitchFamily="34" charset="0"/>
                <a:buChar char="•"/>
              </a:pPr>
              <a:r>
                <a:rPr lang="en-IN" sz="600" dirty="0">
                  <a:solidFill>
                    <a:schemeClr val="accent6">
                      <a:lumMod val="75000"/>
                    </a:schemeClr>
                  </a:solidFill>
                </a:rPr>
                <a:t>Doctors</a:t>
              </a:r>
            </a:p>
            <a:p>
              <a:pPr indent="-171450">
                <a:buFont typeface="Arial" panose="020B0604020202020204" pitchFamily="34" charset="0"/>
                <a:buChar char="•"/>
              </a:pPr>
              <a:r>
                <a:rPr lang="en-IN" sz="600" dirty="0">
                  <a:solidFill>
                    <a:schemeClr val="accent6">
                      <a:lumMod val="75000"/>
                    </a:schemeClr>
                  </a:solidFill>
                </a:rPr>
                <a:t>Admin Staff</a:t>
              </a:r>
            </a:p>
            <a:p>
              <a:pPr indent="-171450">
                <a:buFont typeface="Arial" panose="020B0604020202020204" pitchFamily="34" charset="0"/>
                <a:buChar char="•"/>
              </a:pPr>
              <a:r>
                <a:rPr lang="en-IN" sz="600" dirty="0">
                  <a:solidFill>
                    <a:schemeClr val="accent6">
                      <a:lumMod val="75000"/>
                    </a:schemeClr>
                  </a:solidFill>
                </a:rPr>
                <a:t>Insurance</a:t>
              </a:r>
              <a:endParaRPr lang="en-US" sz="6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pic>
        <p:nvPicPr>
          <p:cNvPr id="7" name="Graphic 6" descr="Television with solid fill">
            <a:extLst>
              <a:ext uri="{FF2B5EF4-FFF2-40B4-BE49-F238E27FC236}">
                <a16:creationId xmlns:a16="http://schemas.microsoft.com/office/drawing/2014/main" id="{058C9C47-C280-DAC5-1264-7459B524B1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65300" y="3516243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50FD3A-E38E-51E5-3F5F-4C4D3DE6AA12}"/>
              </a:ext>
            </a:extLst>
          </p:cNvPr>
          <p:cNvSpPr txBox="1"/>
          <p:nvPr/>
        </p:nvSpPr>
        <p:spPr>
          <a:xfrm>
            <a:off x="1644650" y="3726190"/>
            <a:ext cx="11811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highlight>
                  <a:srgbClr val="FFFF00"/>
                </a:highlight>
              </a:rPr>
              <a:t>Streamlit</a:t>
            </a:r>
          </a:p>
          <a:p>
            <a:pPr algn="ctr"/>
            <a:r>
              <a:rPr lang="en-US" sz="1100" dirty="0">
                <a:highlight>
                  <a:srgbClr val="FFFF00"/>
                </a:highlight>
              </a:rPr>
              <a:t>App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BC7D183-FC7D-E59F-0CD5-F4B3D5BADF39}"/>
              </a:ext>
            </a:extLst>
          </p:cNvPr>
          <p:cNvSpPr/>
          <p:nvPr/>
        </p:nvSpPr>
        <p:spPr>
          <a:xfrm>
            <a:off x="3068828" y="2982783"/>
            <a:ext cx="977900" cy="1917700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Fast API Gateway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A7F0D25-E2ED-75AE-1A06-9536611CD2D9}"/>
              </a:ext>
            </a:extLst>
          </p:cNvPr>
          <p:cNvSpPr/>
          <p:nvPr/>
        </p:nvSpPr>
        <p:spPr>
          <a:xfrm>
            <a:off x="4456234" y="2991927"/>
            <a:ext cx="977900" cy="1917700"/>
          </a:xfrm>
          <a:prstGeom prst="roundRect">
            <a:avLst/>
          </a:prstGeom>
          <a:solidFill>
            <a:schemeClr val="bg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LangGraph supervisor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CB26C1-DDA4-FDC2-7B05-B2E7A3D4AC91}"/>
              </a:ext>
            </a:extLst>
          </p:cNvPr>
          <p:cNvSpPr txBox="1"/>
          <p:nvPr/>
        </p:nvSpPr>
        <p:spPr>
          <a:xfrm>
            <a:off x="4000175" y="4890638"/>
            <a:ext cx="18796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50" b="0" i="0" dirty="0">
                <a:solidFill>
                  <a:srgbClr val="000000"/>
                </a:solidFill>
                <a:effectLst/>
                <a:latin typeface="Anthropic Sans"/>
              </a:rPr>
              <a:t>Central Orchestration</a:t>
            </a:r>
            <a:endParaRPr lang="en-US" sz="105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BFE47B4-0A44-BA1A-E2A1-1463EBFF17EB}"/>
              </a:ext>
            </a:extLst>
          </p:cNvPr>
          <p:cNvGrpSpPr/>
          <p:nvPr/>
        </p:nvGrpSpPr>
        <p:grpSpPr>
          <a:xfrm>
            <a:off x="5843905" y="2267520"/>
            <a:ext cx="1409700" cy="3135759"/>
            <a:chOff x="6177915" y="2258916"/>
            <a:chExt cx="1409700" cy="3135759"/>
          </a:xfrm>
        </p:grpSpPr>
        <p:sp>
          <p:nvSpPr>
            <p:cNvPr id="14" name="Snip Diagonal Corner of Rectangle 13">
              <a:extLst>
                <a:ext uri="{FF2B5EF4-FFF2-40B4-BE49-F238E27FC236}">
                  <a16:creationId xmlns:a16="http://schemas.microsoft.com/office/drawing/2014/main" id="{DA282878-9F15-227D-15C1-8CC64BA3B0CB}"/>
                </a:ext>
              </a:extLst>
            </p:cNvPr>
            <p:cNvSpPr/>
            <p:nvPr/>
          </p:nvSpPr>
          <p:spPr>
            <a:xfrm>
              <a:off x="6177915" y="2258916"/>
              <a:ext cx="1409700" cy="3135759"/>
            </a:xfrm>
            <a:prstGeom prst="snip2Diag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EB830114-C9BE-A959-7E24-EC98730A70CA}"/>
                </a:ext>
              </a:extLst>
            </p:cNvPr>
            <p:cNvSpPr/>
            <p:nvPr/>
          </p:nvSpPr>
          <p:spPr>
            <a:xfrm>
              <a:off x="6247130" y="2418895"/>
              <a:ext cx="1271270" cy="535289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50" dirty="0">
                  <a:solidFill>
                    <a:schemeClr val="tx1"/>
                  </a:solidFill>
                </a:rPr>
                <a:t>Planner Agent</a:t>
              </a:r>
            </a:p>
            <a:p>
              <a:pPr indent="-171450">
                <a:buFont typeface="Arial" panose="020B0604020202020204" pitchFamily="34" charset="0"/>
                <a:buChar char="•"/>
              </a:pPr>
              <a:r>
                <a:rPr lang="en-IN" sz="600" dirty="0">
                  <a:solidFill>
                    <a:schemeClr val="accent6">
                      <a:lumMod val="75000"/>
                    </a:schemeClr>
                  </a:solidFill>
                </a:rPr>
                <a:t>Task decomposition</a:t>
              </a:r>
            </a:p>
            <a:p>
              <a:pPr indent="-171450">
                <a:buFont typeface="Arial" panose="020B0604020202020204" pitchFamily="34" charset="0"/>
                <a:buChar char="•"/>
              </a:pPr>
              <a:r>
                <a:rPr lang="en-IN" sz="600" dirty="0">
                  <a:solidFill>
                    <a:schemeClr val="accent6">
                      <a:lumMod val="75000"/>
                    </a:schemeClr>
                  </a:solidFill>
                </a:rPr>
                <a:t>Subtask generation</a:t>
              </a:r>
              <a:endParaRPr lang="en-US" sz="6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D1402E69-0A04-285F-714C-30C22D8EA9E3}"/>
                </a:ext>
              </a:extLst>
            </p:cNvPr>
            <p:cNvSpPr/>
            <p:nvPr/>
          </p:nvSpPr>
          <p:spPr>
            <a:xfrm>
              <a:off x="6247130" y="3092740"/>
              <a:ext cx="1271270" cy="535289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50" dirty="0">
                  <a:solidFill>
                    <a:schemeClr val="tx1"/>
                  </a:solidFill>
                </a:rPr>
                <a:t>Retriever Agent</a:t>
              </a:r>
            </a:p>
            <a:p>
              <a:pPr indent="-171450">
                <a:buFont typeface="Arial" panose="020B0604020202020204" pitchFamily="34" charset="0"/>
                <a:buChar char="•"/>
              </a:pPr>
              <a:r>
                <a:rPr lang="en-IN" sz="600" dirty="0">
                  <a:solidFill>
                    <a:schemeClr val="accent6">
                      <a:lumMod val="75000"/>
                    </a:schemeClr>
                  </a:solidFill>
                </a:rPr>
                <a:t>Vector search</a:t>
              </a:r>
            </a:p>
            <a:p>
              <a:pPr indent="-171450">
                <a:buFont typeface="Arial" panose="020B0604020202020204" pitchFamily="34" charset="0"/>
                <a:buChar char="•"/>
              </a:pPr>
              <a:r>
                <a:rPr lang="en-IN" sz="600" dirty="0">
                  <a:solidFill>
                    <a:schemeClr val="accent6">
                      <a:lumMod val="75000"/>
                    </a:schemeClr>
                  </a:solidFill>
                </a:rPr>
                <a:t>Document ranking</a:t>
              </a:r>
              <a:endParaRPr lang="en-US" sz="6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57886C52-37CC-96DC-9CAB-D58005DB40F3}"/>
                </a:ext>
              </a:extLst>
            </p:cNvPr>
            <p:cNvSpPr/>
            <p:nvPr/>
          </p:nvSpPr>
          <p:spPr>
            <a:xfrm>
              <a:off x="6247130" y="3766585"/>
              <a:ext cx="1271270" cy="535289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50" dirty="0">
                  <a:solidFill>
                    <a:schemeClr val="tx1"/>
                  </a:solidFill>
                </a:rPr>
                <a:t>MCP Agent</a:t>
              </a:r>
            </a:p>
            <a:p>
              <a:pPr indent="-171450">
                <a:buFont typeface="Arial" panose="020B0604020202020204" pitchFamily="34" charset="0"/>
                <a:buChar char="•"/>
              </a:pPr>
              <a:r>
                <a:rPr lang="en-IN" sz="600" dirty="0">
                  <a:solidFill>
                    <a:schemeClr val="accent6">
                      <a:lumMod val="75000"/>
                    </a:schemeClr>
                  </a:solidFill>
                </a:rPr>
                <a:t>Tool execution</a:t>
              </a:r>
            </a:p>
            <a:p>
              <a:pPr indent="-171450">
                <a:buFont typeface="Arial" panose="020B0604020202020204" pitchFamily="34" charset="0"/>
                <a:buChar char="•"/>
              </a:pPr>
              <a:r>
                <a:rPr lang="en-IN" sz="600" dirty="0">
                  <a:solidFill>
                    <a:schemeClr val="accent6">
                      <a:lumMod val="75000"/>
                    </a:schemeClr>
                  </a:solidFill>
                </a:rPr>
                <a:t>DB queries</a:t>
              </a:r>
              <a:endParaRPr lang="en-US" sz="6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A2068B1E-3BE9-1544-0C76-39E35D1B0088}"/>
                </a:ext>
              </a:extLst>
            </p:cNvPr>
            <p:cNvSpPr/>
            <p:nvPr/>
          </p:nvSpPr>
          <p:spPr>
            <a:xfrm>
              <a:off x="6247130" y="4440430"/>
              <a:ext cx="1271270" cy="535289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50" dirty="0">
                  <a:solidFill>
                    <a:schemeClr val="tx1"/>
                  </a:solidFill>
                </a:rPr>
                <a:t>Vision Agent</a:t>
              </a:r>
            </a:p>
            <a:p>
              <a:pPr indent="-171450">
                <a:buFont typeface="Arial" panose="020B0604020202020204" pitchFamily="34" charset="0"/>
                <a:buChar char="•"/>
              </a:pPr>
              <a:r>
                <a:rPr lang="en-IN" sz="600" dirty="0">
                  <a:solidFill>
                    <a:schemeClr val="accent6">
                      <a:lumMod val="75000"/>
                    </a:schemeClr>
                  </a:solidFill>
                </a:rPr>
                <a:t>Image analysis</a:t>
              </a:r>
            </a:p>
            <a:p>
              <a:pPr indent="-171450">
                <a:buFont typeface="Arial" panose="020B0604020202020204" pitchFamily="34" charset="0"/>
                <a:buChar char="•"/>
              </a:pPr>
              <a:r>
                <a:rPr lang="en-IN" sz="600" dirty="0">
                  <a:solidFill>
                    <a:schemeClr val="accent6">
                      <a:lumMod val="75000"/>
                    </a:schemeClr>
                  </a:solidFill>
                </a:rPr>
                <a:t>OCR &amp; extraction</a:t>
              </a:r>
              <a:endParaRPr lang="en-US" sz="6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70213B6-2EA2-859F-9179-B4D263A350DB}"/>
              </a:ext>
            </a:extLst>
          </p:cNvPr>
          <p:cNvSpPr/>
          <p:nvPr/>
        </p:nvSpPr>
        <p:spPr>
          <a:xfrm>
            <a:off x="9079434" y="3486297"/>
            <a:ext cx="1271270" cy="53528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>
                <a:solidFill>
                  <a:schemeClr val="tx1"/>
                </a:solidFill>
              </a:rPr>
              <a:t>Reasoning Agent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700" dirty="0">
                <a:solidFill>
                  <a:schemeClr val="tx1"/>
                </a:solidFill>
              </a:rPr>
              <a:t>Context synthesis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700" dirty="0">
                <a:solidFill>
                  <a:schemeClr val="tx1"/>
                </a:solidFill>
              </a:rPr>
              <a:t>Logic &amp; inference</a:t>
            </a:r>
            <a:endParaRPr lang="en-US" sz="100" dirty="0">
              <a:solidFill>
                <a:schemeClr val="tx1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C6ACBA0-5D32-95F0-32DC-756A63F36AB9}"/>
              </a:ext>
            </a:extLst>
          </p:cNvPr>
          <p:cNvSpPr/>
          <p:nvPr/>
        </p:nvSpPr>
        <p:spPr>
          <a:xfrm>
            <a:off x="10652527" y="3494834"/>
            <a:ext cx="1271270" cy="53528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>
                <a:solidFill>
                  <a:schemeClr val="tx1"/>
                </a:solidFill>
              </a:rPr>
              <a:t>Evaluator Agent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700" dirty="0">
                <a:solidFill>
                  <a:schemeClr val="tx1"/>
                </a:solidFill>
              </a:rPr>
              <a:t>Quality checks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700" dirty="0">
                <a:solidFill>
                  <a:schemeClr val="tx1"/>
                </a:solidFill>
              </a:rPr>
              <a:t>Safety validation</a:t>
            </a:r>
            <a:endParaRPr lang="en-US" sz="100" dirty="0">
              <a:solidFill>
                <a:schemeClr val="tx1"/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FC95348-AF74-2449-E47F-118FAED53F5D}"/>
              </a:ext>
            </a:extLst>
          </p:cNvPr>
          <p:cNvSpPr/>
          <p:nvPr/>
        </p:nvSpPr>
        <p:spPr>
          <a:xfrm>
            <a:off x="10531842" y="5334043"/>
            <a:ext cx="1271270" cy="53528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>
                <a:solidFill>
                  <a:schemeClr val="tx1"/>
                </a:solidFill>
              </a:rPr>
              <a:t>Response Agent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700" dirty="0">
                <a:solidFill>
                  <a:schemeClr val="tx1"/>
                </a:solidFill>
              </a:rPr>
              <a:t>Output guardrails</a:t>
            </a:r>
            <a:endParaRPr lang="en-US" sz="200" dirty="0">
              <a:solidFill>
                <a:schemeClr val="tx1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C0BFEFD-CD74-91A5-7ECE-2696006058D1}"/>
              </a:ext>
            </a:extLst>
          </p:cNvPr>
          <p:cNvGrpSpPr/>
          <p:nvPr/>
        </p:nvGrpSpPr>
        <p:grpSpPr>
          <a:xfrm>
            <a:off x="6690209" y="811958"/>
            <a:ext cx="3483292" cy="1092200"/>
            <a:chOff x="3187700" y="457200"/>
            <a:chExt cx="3483292" cy="1092200"/>
          </a:xfrm>
        </p:grpSpPr>
        <p:sp>
          <p:nvSpPr>
            <p:cNvPr id="23" name="Round Diagonal Corner of Rectangle 22">
              <a:extLst>
                <a:ext uri="{FF2B5EF4-FFF2-40B4-BE49-F238E27FC236}">
                  <a16:creationId xmlns:a16="http://schemas.microsoft.com/office/drawing/2014/main" id="{6D61BD2B-AADB-19FC-8B28-42B8B38B808A}"/>
                </a:ext>
              </a:extLst>
            </p:cNvPr>
            <p:cNvSpPr/>
            <p:nvPr/>
          </p:nvSpPr>
          <p:spPr>
            <a:xfrm>
              <a:off x="3187700" y="457200"/>
              <a:ext cx="3483292" cy="1092200"/>
            </a:xfrm>
            <a:prstGeom prst="round2Diag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EEE35580-E712-1820-7612-351BD9B1706E}"/>
                </a:ext>
              </a:extLst>
            </p:cNvPr>
            <p:cNvSpPr/>
            <p:nvPr/>
          </p:nvSpPr>
          <p:spPr>
            <a:xfrm>
              <a:off x="3529965" y="735655"/>
              <a:ext cx="1271270" cy="535289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50" dirty="0">
                  <a:solidFill>
                    <a:schemeClr val="tx1"/>
                  </a:solidFill>
                </a:rPr>
                <a:t>Vector Database</a:t>
              </a:r>
            </a:p>
            <a:p>
              <a:pPr algn="ctr"/>
              <a:r>
                <a:rPr lang="en-IN" sz="600" dirty="0">
                  <a:solidFill>
                    <a:schemeClr val="accent6">
                      <a:lumMod val="75000"/>
                    </a:schemeClr>
                  </a:solidFill>
                </a:rPr>
                <a:t>FAISS / Chroma DB</a:t>
              </a:r>
            </a:p>
            <a:p>
              <a:pPr algn="ctr"/>
              <a:r>
                <a:rPr lang="en-IN" sz="600" dirty="0">
                  <a:solidFill>
                    <a:schemeClr val="accent6">
                      <a:lumMod val="75000"/>
                    </a:schemeClr>
                  </a:solidFill>
                </a:rPr>
                <a:t>Embeddings</a:t>
              </a:r>
              <a:endParaRPr lang="en-US" sz="6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FE0ACA26-9D10-828F-7370-104641F15A20}"/>
                </a:ext>
              </a:extLst>
            </p:cNvPr>
            <p:cNvSpPr/>
            <p:nvPr/>
          </p:nvSpPr>
          <p:spPr>
            <a:xfrm>
              <a:off x="4975860" y="735654"/>
              <a:ext cx="1271270" cy="535289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50" dirty="0">
                  <a:solidFill>
                    <a:schemeClr val="tx1"/>
                  </a:solidFill>
                </a:rPr>
                <a:t>PostgreSQL</a:t>
              </a:r>
            </a:p>
            <a:p>
              <a:pPr algn="ctr"/>
              <a:r>
                <a:rPr lang="en-IN" sz="600" dirty="0">
                  <a:solidFill>
                    <a:schemeClr val="accent6">
                      <a:lumMod val="75000"/>
                    </a:schemeClr>
                  </a:solidFill>
                </a:rPr>
                <a:t>Patients • Appointments Labs Results • Billing</a:t>
              </a:r>
              <a:endParaRPr lang="en-US" sz="6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pic>
        <p:nvPicPr>
          <p:cNvPr id="28" name="Graphic 27" descr="Openai Icon &amp; Logo | Dashboard Icons &amp; Logos">
            <a:extLst>
              <a:ext uri="{FF2B5EF4-FFF2-40B4-BE49-F238E27FC236}">
                <a16:creationId xmlns:a16="http://schemas.microsoft.com/office/drawing/2014/main" id="{DAB6DE67-245A-3649-5187-468EC73A0B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45922" y="3486296"/>
            <a:ext cx="535289" cy="53528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CF54F53-88BE-2293-BA55-E32566032820}"/>
              </a:ext>
            </a:extLst>
          </p:cNvPr>
          <p:cNvSpPr txBox="1"/>
          <p:nvPr/>
        </p:nvSpPr>
        <p:spPr>
          <a:xfrm>
            <a:off x="7662711" y="811955"/>
            <a:ext cx="16313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dirty="0"/>
              <a:t>Data Storage &amp; Integration</a:t>
            </a:r>
            <a:endParaRPr lang="en-US" sz="1000" dirty="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A721B532-5096-55C0-23BD-E8B07A70CED4}"/>
              </a:ext>
            </a:extLst>
          </p:cNvPr>
          <p:cNvSpPr/>
          <p:nvPr/>
        </p:nvSpPr>
        <p:spPr>
          <a:xfrm>
            <a:off x="8570595" y="2105025"/>
            <a:ext cx="1179044" cy="53528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>
                <a:solidFill>
                  <a:schemeClr val="tx1"/>
                </a:solidFill>
              </a:rPr>
              <a:t>MCP Server</a:t>
            </a:r>
            <a:endParaRPr lang="en-US" sz="200" dirty="0">
              <a:solidFill>
                <a:schemeClr val="tx1"/>
              </a:solidFill>
            </a:endParaRPr>
          </a:p>
        </p:txBody>
      </p: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CACD335F-01E4-4596-C936-5700281646F3}"/>
              </a:ext>
            </a:extLst>
          </p:cNvPr>
          <p:cNvCxnSpPr>
            <a:endCxn id="28" idx="0"/>
          </p:cNvCxnSpPr>
          <p:nvPr/>
        </p:nvCxnSpPr>
        <p:spPr>
          <a:xfrm rot="16200000" flipH="1">
            <a:off x="7066674" y="2139402"/>
            <a:ext cx="1860595" cy="833191"/>
          </a:xfrm>
          <a:prstGeom prst="bentConnector3">
            <a:avLst>
              <a:gd name="adj1" fmla="val 68184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5EE040B-3584-A439-219A-A701FB8A86A1}"/>
              </a:ext>
            </a:extLst>
          </p:cNvPr>
          <p:cNvCxnSpPr>
            <a:cxnSpLocks/>
          </p:cNvCxnSpPr>
          <p:nvPr/>
        </p:nvCxnSpPr>
        <p:spPr>
          <a:xfrm>
            <a:off x="9132292" y="1632354"/>
            <a:ext cx="0" cy="48220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0862A827-DB8A-6EFC-2BA6-FF081A00FD24}"/>
              </a:ext>
            </a:extLst>
          </p:cNvPr>
          <p:cNvCxnSpPr>
            <a:stCxn id="31" idx="2"/>
            <a:endCxn id="28" idx="0"/>
          </p:cNvCxnSpPr>
          <p:nvPr/>
        </p:nvCxnSpPr>
        <p:spPr>
          <a:xfrm rot="5400000">
            <a:off x="8363851" y="2690030"/>
            <a:ext cx="845982" cy="746550"/>
          </a:xfrm>
          <a:prstGeom prst="bentConnector3">
            <a:avLst>
              <a:gd name="adj1" fmla="val 3054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BA48938-57C5-3A95-BF2F-86F501FEE02C}"/>
              </a:ext>
            </a:extLst>
          </p:cNvPr>
          <p:cNvSpPr txBox="1"/>
          <p:nvPr/>
        </p:nvSpPr>
        <p:spPr>
          <a:xfrm>
            <a:off x="7930769" y="4021582"/>
            <a:ext cx="1110996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0" i="0" dirty="0">
                <a:solidFill>
                  <a:srgbClr val="000000"/>
                </a:solidFill>
                <a:effectLst/>
                <a:latin typeface="Anthropic Sans"/>
              </a:rPr>
              <a:t>LLM Processing</a:t>
            </a:r>
          </a:p>
          <a:p>
            <a:pPr indent="-171450">
              <a:buFont typeface="Arial" panose="020B0604020202020204" pitchFamily="34" charset="0"/>
              <a:buChar char="•"/>
            </a:pPr>
            <a:r>
              <a:rPr lang="en-IN" sz="600" dirty="0">
                <a:solidFill>
                  <a:schemeClr val="accent6">
                    <a:lumMod val="75000"/>
                  </a:schemeClr>
                </a:solidFill>
              </a:rPr>
              <a:t>OpenAI</a:t>
            </a:r>
          </a:p>
          <a:p>
            <a:pPr indent="-171450">
              <a:buFont typeface="Arial" panose="020B0604020202020204" pitchFamily="34" charset="0"/>
              <a:buChar char="•"/>
            </a:pPr>
            <a:r>
              <a:rPr lang="en-IN" sz="600" dirty="0" err="1">
                <a:solidFill>
                  <a:schemeClr val="accent6">
                    <a:lumMod val="75000"/>
                  </a:schemeClr>
                </a:solidFill>
              </a:rPr>
              <a:t>Groq</a:t>
            </a:r>
            <a:r>
              <a:rPr lang="en-IN" sz="600" dirty="0">
                <a:solidFill>
                  <a:schemeClr val="accent6">
                    <a:lumMod val="75000"/>
                  </a:schemeClr>
                </a:solidFill>
              </a:rPr>
              <a:t> </a:t>
            </a:r>
            <a:endParaRPr lang="en-US" sz="600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B1F9B49-CD23-EA57-ED50-86DE66A51C83}"/>
              </a:ext>
            </a:extLst>
          </p:cNvPr>
          <p:cNvCxnSpPr>
            <a:cxnSpLocks/>
          </p:cNvCxnSpPr>
          <p:nvPr/>
        </p:nvCxnSpPr>
        <p:spPr>
          <a:xfrm flipV="1">
            <a:off x="1465036" y="3951525"/>
            <a:ext cx="33564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CAC8686-6DBB-58AD-247E-E4B3F179A5F1}"/>
              </a:ext>
            </a:extLst>
          </p:cNvPr>
          <p:cNvCxnSpPr>
            <a:cxnSpLocks/>
          </p:cNvCxnSpPr>
          <p:nvPr/>
        </p:nvCxnSpPr>
        <p:spPr>
          <a:xfrm flipV="1">
            <a:off x="2649029" y="3951524"/>
            <a:ext cx="40613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65C35B2-D3CF-5A22-DA13-AD36C97061B6}"/>
              </a:ext>
            </a:extLst>
          </p:cNvPr>
          <p:cNvCxnSpPr>
            <a:cxnSpLocks/>
          </p:cNvCxnSpPr>
          <p:nvPr/>
        </p:nvCxnSpPr>
        <p:spPr>
          <a:xfrm flipV="1">
            <a:off x="4046728" y="3951523"/>
            <a:ext cx="40613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F2778D1-52B0-161C-0BAE-2C0D5C94EFBD}"/>
              </a:ext>
            </a:extLst>
          </p:cNvPr>
          <p:cNvCxnSpPr>
            <a:cxnSpLocks/>
          </p:cNvCxnSpPr>
          <p:nvPr/>
        </p:nvCxnSpPr>
        <p:spPr>
          <a:xfrm flipV="1">
            <a:off x="5435733" y="3950776"/>
            <a:ext cx="40613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55821C1-BB7F-F170-C899-1677ABA21E8A}"/>
              </a:ext>
            </a:extLst>
          </p:cNvPr>
          <p:cNvCxnSpPr>
            <a:cxnSpLocks/>
          </p:cNvCxnSpPr>
          <p:nvPr/>
        </p:nvCxnSpPr>
        <p:spPr>
          <a:xfrm flipV="1">
            <a:off x="7265788" y="3726190"/>
            <a:ext cx="87058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8712593-0DA4-05F7-27F5-0A8B3F5A9216}"/>
              </a:ext>
            </a:extLst>
          </p:cNvPr>
          <p:cNvCxnSpPr>
            <a:cxnSpLocks/>
          </p:cNvCxnSpPr>
          <p:nvPr/>
        </p:nvCxnSpPr>
        <p:spPr>
          <a:xfrm flipV="1">
            <a:off x="8635633" y="3736009"/>
            <a:ext cx="40613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1686FD4-87C6-4A33-540F-52027C2B5700}"/>
              </a:ext>
            </a:extLst>
          </p:cNvPr>
          <p:cNvCxnSpPr>
            <a:cxnSpLocks/>
          </p:cNvCxnSpPr>
          <p:nvPr/>
        </p:nvCxnSpPr>
        <p:spPr>
          <a:xfrm flipV="1">
            <a:off x="10349049" y="3753940"/>
            <a:ext cx="30513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036940B-01DF-92B5-C0BB-9FB3077C9B06}"/>
              </a:ext>
            </a:extLst>
          </p:cNvPr>
          <p:cNvCxnSpPr>
            <a:stCxn id="20" idx="2"/>
          </p:cNvCxnSpPr>
          <p:nvPr/>
        </p:nvCxnSpPr>
        <p:spPr>
          <a:xfrm>
            <a:off x="11288162" y="4030123"/>
            <a:ext cx="0" cy="13039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D20D2801-60EC-1721-04B3-63D3C02F193B}"/>
              </a:ext>
            </a:extLst>
          </p:cNvPr>
          <p:cNvCxnSpPr>
            <a:stCxn id="21" idx="1"/>
            <a:endCxn id="32" idx="2"/>
          </p:cNvCxnSpPr>
          <p:nvPr/>
        </p:nvCxnSpPr>
        <p:spPr>
          <a:xfrm rot="10800000">
            <a:off x="991856" y="4573318"/>
            <a:ext cx="9539987" cy="102837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03348ACB-B686-178A-585C-19267DD12C28}"/>
              </a:ext>
            </a:extLst>
          </p:cNvPr>
          <p:cNvSpPr txBox="1"/>
          <p:nvPr/>
        </p:nvSpPr>
        <p:spPr>
          <a:xfrm>
            <a:off x="3732982" y="811955"/>
            <a:ext cx="18557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dirty="0"/>
              <a:t>Ingestion Pipeline</a:t>
            </a:r>
            <a:endParaRPr lang="en-US" sz="10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87507CD-288D-3A08-AE53-7C3EE240EB30}"/>
              </a:ext>
            </a:extLst>
          </p:cNvPr>
          <p:cNvSpPr txBox="1"/>
          <p:nvPr/>
        </p:nvSpPr>
        <p:spPr>
          <a:xfrm>
            <a:off x="2945610" y="1643315"/>
            <a:ext cx="10611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dirty="0"/>
              <a:t>Document Upload</a:t>
            </a:r>
            <a:endParaRPr lang="en-US" sz="8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1D7B664-D263-582F-2415-CE3F4D488A0C}"/>
              </a:ext>
            </a:extLst>
          </p:cNvPr>
          <p:cNvSpPr txBox="1"/>
          <p:nvPr/>
        </p:nvSpPr>
        <p:spPr>
          <a:xfrm>
            <a:off x="4258967" y="1643315"/>
            <a:ext cx="7460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dirty="0"/>
              <a:t>Chunking</a:t>
            </a:r>
            <a:endParaRPr lang="en-US" sz="800" dirty="0"/>
          </a:p>
        </p:txBody>
      </p:sp>
      <p:pic>
        <p:nvPicPr>
          <p:cNvPr id="62" name="Graphic 61" descr="Document with solid fill">
            <a:extLst>
              <a:ext uri="{FF2B5EF4-FFF2-40B4-BE49-F238E27FC236}">
                <a16:creationId xmlns:a16="http://schemas.microsoft.com/office/drawing/2014/main" id="{96BF652A-85C7-E120-D6D4-A830B1EF21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08598" y="1253868"/>
            <a:ext cx="375757" cy="375757"/>
          </a:xfrm>
          <a:prstGeom prst="rect">
            <a:avLst/>
          </a:prstGeom>
        </p:spPr>
      </p:pic>
      <p:pic>
        <p:nvPicPr>
          <p:cNvPr id="68" name="Graphic 67" descr="List with solid fill">
            <a:extLst>
              <a:ext uri="{FF2B5EF4-FFF2-40B4-BE49-F238E27FC236}">
                <a16:creationId xmlns:a16="http://schemas.microsoft.com/office/drawing/2014/main" id="{F29B2C8C-D21D-4120-D47C-5161AB1341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79347" y="1174281"/>
            <a:ext cx="232211" cy="232211"/>
          </a:xfrm>
          <a:prstGeom prst="rect">
            <a:avLst/>
          </a:prstGeom>
        </p:spPr>
      </p:pic>
      <p:pic>
        <p:nvPicPr>
          <p:cNvPr id="72" name="Graphic 71" descr="List with solid fill">
            <a:extLst>
              <a:ext uri="{FF2B5EF4-FFF2-40B4-BE49-F238E27FC236}">
                <a16:creationId xmlns:a16="http://schemas.microsoft.com/office/drawing/2014/main" id="{81C00C44-C674-2043-2A0F-062686E6F3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4100" y="1420233"/>
            <a:ext cx="232211" cy="232211"/>
          </a:xfrm>
          <a:prstGeom prst="rect">
            <a:avLst/>
          </a:prstGeom>
        </p:spPr>
      </p:pic>
      <p:pic>
        <p:nvPicPr>
          <p:cNvPr id="74" name="Picture 73" descr="Matrix - Free education icons">
            <a:extLst>
              <a:ext uri="{FF2B5EF4-FFF2-40B4-BE49-F238E27FC236}">
                <a16:creationId xmlns:a16="http://schemas.microsoft.com/office/drawing/2014/main" id="{78CE68E0-F7E2-7E7B-EA8C-04E8D0CF1F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5638" y="1135633"/>
            <a:ext cx="535815" cy="535815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9B44F76B-05ED-30A4-89FB-2D16E304A58E}"/>
              </a:ext>
            </a:extLst>
          </p:cNvPr>
          <p:cNvSpPr txBox="1"/>
          <p:nvPr/>
        </p:nvSpPr>
        <p:spPr>
          <a:xfrm>
            <a:off x="5522178" y="1643315"/>
            <a:ext cx="7460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dirty="0"/>
              <a:t>Embeddings</a:t>
            </a:r>
            <a:endParaRPr lang="en-US" sz="800" dirty="0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BD02D5F-CA27-B28B-1F8B-4A9BC8CDD67C}"/>
              </a:ext>
            </a:extLst>
          </p:cNvPr>
          <p:cNvCxnSpPr>
            <a:cxnSpLocks/>
          </p:cNvCxnSpPr>
          <p:nvPr/>
        </p:nvCxnSpPr>
        <p:spPr>
          <a:xfrm>
            <a:off x="3732982" y="1403540"/>
            <a:ext cx="716414" cy="2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1A36979-4032-3F96-16D3-672E68C1E7EA}"/>
              </a:ext>
            </a:extLst>
          </p:cNvPr>
          <p:cNvCxnSpPr>
            <a:cxnSpLocks/>
          </p:cNvCxnSpPr>
          <p:nvPr/>
        </p:nvCxnSpPr>
        <p:spPr>
          <a:xfrm>
            <a:off x="4872323" y="1393760"/>
            <a:ext cx="716414" cy="2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0A156FC-AAB3-1E86-0BC3-100E034C9080}"/>
              </a:ext>
            </a:extLst>
          </p:cNvPr>
          <p:cNvCxnSpPr>
            <a:cxnSpLocks/>
          </p:cNvCxnSpPr>
          <p:nvPr/>
        </p:nvCxnSpPr>
        <p:spPr>
          <a:xfrm>
            <a:off x="6237681" y="1393760"/>
            <a:ext cx="716414" cy="2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F6E1B9FC-3833-9BCE-5978-08B718A4627F}"/>
              </a:ext>
            </a:extLst>
          </p:cNvPr>
          <p:cNvSpPr/>
          <p:nvPr/>
        </p:nvSpPr>
        <p:spPr>
          <a:xfrm>
            <a:off x="7808164" y="4773245"/>
            <a:ext cx="1271270" cy="53528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>
                <a:solidFill>
                  <a:schemeClr val="tx1"/>
                </a:solidFill>
              </a:rPr>
              <a:t>Observability</a:t>
            </a:r>
            <a:endParaRPr lang="en-US" sz="200" dirty="0">
              <a:solidFill>
                <a:schemeClr val="tx1"/>
              </a:solidFill>
            </a:endParaRPr>
          </a:p>
          <a:p>
            <a:pPr algn="ctr"/>
            <a:r>
              <a:rPr lang="en-US" sz="500" dirty="0" err="1">
                <a:solidFill>
                  <a:schemeClr val="accent6">
                    <a:lumMod val="75000"/>
                  </a:schemeClr>
                </a:solidFill>
              </a:rPr>
              <a:t>Langsmith</a:t>
            </a:r>
            <a:endParaRPr lang="en-IN" sz="1050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02BF7CF5-3D47-4E5F-1FDE-EEDF3C5DF57A}"/>
              </a:ext>
            </a:extLst>
          </p:cNvPr>
          <p:cNvCxnSpPr>
            <a:cxnSpLocks/>
          </p:cNvCxnSpPr>
          <p:nvPr/>
        </p:nvCxnSpPr>
        <p:spPr>
          <a:xfrm>
            <a:off x="8486267" y="4317620"/>
            <a:ext cx="0" cy="4674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7363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708</TotalTime>
  <Words>94</Words>
  <Application>Microsoft Macintosh PowerPoint</Application>
  <PresentationFormat>Widescreen</PresentationFormat>
  <Paragraphs>46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Anthropic Sans</vt:lpstr>
      <vt:lpstr>Aptos</vt:lpstr>
      <vt:lpstr>Aptos Display</vt:lpstr>
      <vt:lpstr>Arial</vt:lpstr>
      <vt:lpstr>Office Theme</vt:lpstr>
      <vt:lpstr>Enterprise Architecture for MediAssist AI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 Mirajkar</dc:creator>
  <cp:lastModifiedBy>Ankit Mirajkar</cp:lastModifiedBy>
  <cp:revision>44</cp:revision>
  <dcterms:created xsi:type="dcterms:W3CDTF">2026-06-07T05:15:51Z</dcterms:created>
  <dcterms:modified xsi:type="dcterms:W3CDTF">2026-06-07T17:04:50Z</dcterms:modified>
</cp:coreProperties>
</file>